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4630400" cy="4572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572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14630400" cy="4572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657600"/>
            <a:ext cx="14630400" cy="4572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14630400" cy="4572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486400"/>
            <a:ext cx="14630400" cy="4572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4630400" cy="4572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7315200"/>
            <a:ext cx="14630400" cy="4572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8872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8016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6304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731520"/>
            <a:ext cx="6766560" cy="64008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7498079" y="0"/>
            <a:ext cx="457200" cy="8229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457200" cy="822960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F0F6FC"/>
                </a:solidFill>
              </a:rPr>
              <a:t>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6459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0F6FC"/>
                </a:solidFill>
              </a:rPr>
              <a:t>walk3d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1089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8C32"/>
                </a:solidFill>
              </a:rPr>
              <a:t>귀여운 3D 마을 탐험 게임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9319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B949E"/>
                </a:solidFill>
              </a:rPr>
              <a:t>삼색 고양이와 함께 떠나는
무한히 펼쳐지는 3D 세계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074920"/>
            <a:ext cx="13898880" cy="1097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5257800"/>
            <a:ext cx="1152144" cy="329184"/>
          </a:xfrm>
          <a:prstGeom prst="roundRect">
            <a:avLst>
              <a:gd name="adj" fmla="val 4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303520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Three.js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48840" y="5257800"/>
            <a:ext cx="1371600" cy="329184"/>
          </a:xfrm>
          <a:prstGeom prst="roundRect">
            <a:avLst>
              <a:gd name="adj" fmla="val 4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58568" y="53035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TypeScript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66160" y="5257800"/>
            <a:ext cx="932688" cy="329184"/>
          </a:xfrm>
          <a:prstGeom prst="roundRect">
            <a:avLst>
              <a:gd name="adj" fmla="val 4000"/>
            </a:avLst>
          </a:prstGeom>
          <a:solidFill>
            <a:srgbClr val="A5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5888" y="5303520"/>
            <a:ext cx="8412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Vite 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83480" y="5257800"/>
            <a:ext cx="932688" cy="329184"/>
          </a:xfrm>
          <a:prstGeom prst="roundRect">
            <a:avLst>
              <a:gd name="adj" fmla="val 4000"/>
            </a:avLst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93208" y="5303520"/>
            <a:ext cx="8412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Vitest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5257800"/>
            <a:ext cx="1261872" cy="329184"/>
          </a:xfrm>
          <a:prstGeom prst="roundRect">
            <a:avLst>
              <a:gd name="adj" fmla="val 4000"/>
            </a:avLst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0528" y="5303520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Web Audio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4922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86069"/>
                </a:solidFill>
              </a:rPr>
              <a:t>OMC 멀티에이전트 파이프라인으로 설계·개발된 웹 게임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781812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86069"/>
                </a:solidFill>
              </a:rPr>
              <a:t>2026. 04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</a:rPr>
              <a:t>주요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49E"/>
                </a:solidFill>
              </a:rPr>
              <a:t>한 세션 안에 완성된 풀스택 웹 게임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" cy="20116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3FB950"/>
                </a:solidFill>
              </a:rPr>
              <a:t>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</a:rPr>
              <a:t>테스트 통과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141732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1417320"/>
            <a:ext cx="54864" cy="201168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544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8C32"/>
                </a:solidFill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</a:rPr>
              <a:t>유저 스토리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41732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1417320"/>
            <a:ext cx="54864" cy="201168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5544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79C0FF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</a:rPr>
              <a:t>타입 에러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141732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064240" y="1417320"/>
            <a:ext cx="54864" cy="2011680"/>
          </a:xfrm>
          <a:prstGeom prst="rect">
            <a:avLst/>
          </a:prstGeom>
          <a:solidFill>
            <a:srgbClr val="A5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21440" y="15544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A571FF"/>
                </a:solidFill>
              </a:rPr>
              <a:t>8+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19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</a:rPr>
              <a:t>핵심 기능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703320"/>
            <a:ext cx="3291840" cy="25603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03320"/>
            <a:ext cx="54864" cy="256032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7947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F6FC"/>
                </a:solidFill>
              </a:rPr>
              <a:t>🗺️  무한 청크 월드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370832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청크 기반 절차적 생성
5×5 반경 실시간 로딩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0" y="3703320"/>
            <a:ext cx="3291840" cy="25603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20" y="3703320"/>
            <a:ext cx="54864" cy="25603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7952" y="37947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F6FC"/>
                </a:solidFill>
              </a:rPr>
              <a:t>🐱  삼색 고양이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87952" y="4370832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구체 기반 캐릭터
목걸이 + 황금 방울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3703320"/>
            <a:ext cx="3291840" cy="25603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79" y="3703320"/>
            <a:ext cx="54864" cy="25603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54111" y="37947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F6FC"/>
                </a:solidFill>
              </a:rPr>
              <a:t>🎵  효과음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1" y="4370832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meow + 또잉
Web Audio API 신스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064240" y="3703320"/>
            <a:ext cx="3291840" cy="25603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064240" y="3703320"/>
            <a:ext cx="54864" cy="2560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20272" y="37947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F6FC"/>
                </a:solidFill>
              </a:rPr>
              <a:t>🏅  수집 시스템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20272" y="4370832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아이템 → 레벨업 → 지역 해금
꽃가루 이펙트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37960"/>
            <a:ext cx="1389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B949E"/>
                </a:solidFill>
              </a:rPr>
              <a:t>✅  WASD 이동  ✅  점프 물리  ✅  단차 플랫폼  ✅  지역 경계  ✅  자동 저장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A5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</a:rPr>
              <a:t>OMC 멀티에이전트 개발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B949E"/>
                </a:solidFill>
              </a:rPr>
              <a:t>Deep Interview → Ralph 반복 루프 → 아키텍트 검증 → 지속적 기능 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703320"/>
            <a:ext cx="228600" cy="54864"/>
          </a:xfrm>
          <a:prstGeom prst="rect">
            <a:avLst/>
          </a:prstGeom>
          <a:solidFill>
            <a:srgbClr val="586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0088" y="35478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86069"/>
                </a:solidFill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2542032" cy="502920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2542032" cy="73152"/>
          </a:xfrm>
          <a:prstGeom prst="rect">
            <a:avLst/>
          </a:prstGeom>
          <a:solidFill>
            <a:srgbClr val="A5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727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71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288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0F6FC"/>
                </a:solidFill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788920"/>
            <a:ext cx="2359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F6FC"/>
                </a:solidFill>
              </a:rPr>
              <a:t>Deep
Interview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566160"/>
            <a:ext cx="2359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6라운드 소크라테스
모호성 20% 이하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42432" y="3703320"/>
            <a:ext cx="228600" cy="54864"/>
          </a:xfrm>
          <a:prstGeom prst="rect">
            <a:avLst/>
          </a:prstGeom>
          <a:solidFill>
            <a:srgbClr val="586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35478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86069"/>
                </a:solidFill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36392" y="1463040"/>
            <a:ext cx="2542032" cy="502920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36392" y="1463040"/>
            <a:ext cx="2542032" cy="73152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15727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C0FF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2" y="18288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0F6FC"/>
                </a:solidFill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27832" y="2788920"/>
            <a:ext cx="2359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F6FC"/>
                </a:solidFill>
              </a:rPr>
              <a:t>PRD
수립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7832" y="3566160"/>
            <a:ext cx="2359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US-001~012
walk3d-village-game.md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58784" y="3703320"/>
            <a:ext cx="228600" cy="54864"/>
          </a:xfrm>
          <a:prstGeom prst="rect">
            <a:avLst/>
          </a:prstGeom>
          <a:solidFill>
            <a:srgbClr val="586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22792" y="35478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86069"/>
                </a:solidFill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52744" y="1463040"/>
            <a:ext cx="2542032" cy="502920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52744" y="1463040"/>
            <a:ext cx="2542032" cy="73152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9904" y="15727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32"/>
                </a:solidFill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3" y="18288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0F6FC"/>
                </a:solidFill>
              </a:rP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44183" y="2788920"/>
            <a:ext cx="2359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F6FC"/>
                </a:solidFill>
              </a:rPr>
              <a:t>Ralph
반복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4183" y="3566160"/>
            <a:ext cx="2359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PRD 기반 자동 반복
아키텍트 검증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375136" y="3703320"/>
            <a:ext cx="228600" cy="54864"/>
          </a:xfrm>
          <a:prstGeom prst="rect">
            <a:avLst/>
          </a:prstGeom>
          <a:solidFill>
            <a:srgbClr val="586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9144" y="35478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86069"/>
                </a:solidFill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69096" y="1463040"/>
            <a:ext cx="2542032" cy="502920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69096" y="1463040"/>
            <a:ext cx="2542032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06256" y="15727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46336" y="18288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0F6FC"/>
                </a:solidFill>
              </a:rPr>
              <a:t>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0536" y="2788920"/>
            <a:ext cx="2359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F6FC"/>
                </a:solidFill>
              </a:rPr>
              <a:t>기능
추가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0536" y="3566160"/>
            <a:ext cx="2359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사용자 피드백
즉각 반영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585448" y="1463040"/>
            <a:ext cx="2542032" cy="502920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585448" y="1463040"/>
            <a:ext cx="254203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722608" y="15727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62688" y="18288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0F6FC"/>
                </a:solidFill>
              </a:rPr>
              <a:t>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76888" y="2788920"/>
            <a:ext cx="2359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F6FC"/>
                </a:solidFill>
              </a:rPr>
              <a:t>완료
검증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6888" y="3566160"/>
            <a:ext cx="2359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65테스트 통과
빌드 0 에러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</a:rPr>
              <a:t>기술 아키텍처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3898880" cy="91440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" cy="91440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8C32"/>
                </a:solidFill>
              </a:rPr>
              <a:t>🖥  렌더링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41732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Three.js WebGL · MeshToonMaterial · PCFSoft Shadow · Fog(0xd4e9ff)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331720"/>
            <a:ext cx="13898880" cy="91440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54864" cy="91440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9C0FF"/>
                </a:solidFill>
              </a:rPr>
              <a:t>🌍  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56032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ChunkManager(5×5) · ChunkGenerator · Terrain · RoadGrid · Buildings · Props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474720"/>
            <a:ext cx="13898880" cy="91440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474720"/>
            <a:ext cx="54864" cy="914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FB950"/>
                </a:solidFill>
              </a:rPr>
              <a:t>🎮  게임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70332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ItemSystem · ProgressSystem · RegionManager · SaveSystem · CollectFX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617720"/>
            <a:ext cx="13898880" cy="91440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617720"/>
            <a:ext cx="54864" cy="914400"/>
          </a:xfrm>
          <a:prstGeom prst="rect">
            <a:avLst/>
          </a:prstGeom>
          <a:solidFill>
            <a:srgbClr val="A5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571FF"/>
                </a:solidFill>
              </a:rPr>
              <a:t>⚡  물리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84632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verticalVelocity · GRAVITY=-25 · JUMP_FORCE=11 · getTerrainHeight()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760720"/>
            <a:ext cx="13898880" cy="91440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760720"/>
            <a:ext cx="54864" cy="9144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9D"/>
                </a:solidFill>
              </a:rPr>
              <a:t>🔊  UI/사운드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98932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HUD · ControlsHUD · RegionUnlockFX · SoundSystem(Web Audio API)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0" y="2148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86069"/>
                </a:solidFill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0" y="3291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86069"/>
                </a:solidFill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0" y="4434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86069"/>
                </a:solidFill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0" y="5577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86069"/>
                </a:solidFill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903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949E"/>
                </a:solidFill>
              </a:rPr>
              <a:t>Stack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7360920"/>
            <a:ext cx="1591056" cy="329184"/>
          </a:xfrm>
          <a:prstGeom prst="roundRect">
            <a:avLst>
              <a:gd name="adj" fmla="val 4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7406640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TypeScript 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18688" y="7360920"/>
            <a:ext cx="1700784" cy="329184"/>
          </a:xfrm>
          <a:prstGeom prst="roundRect">
            <a:avLst>
              <a:gd name="adj" fmla="val 4000"/>
            </a:avLst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7406640"/>
            <a:ext cx="1609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Three.js r170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71616" y="7360920"/>
            <a:ext cx="932688" cy="329184"/>
          </a:xfrm>
          <a:prstGeom prst="roundRect">
            <a:avLst>
              <a:gd name="adj" fmla="val 4000"/>
            </a:avLst>
          </a:prstGeom>
          <a:solidFill>
            <a:srgbClr val="A5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81344" y="7406640"/>
            <a:ext cx="8412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Vite 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24544" y="7360920"/>
            <a:ext cx="932688" cy="329184"/>
          </a:xfrm>
          <a:prstGeom prst="roundRect">
            <a:avLst>
              <a:gd name="adj" fmla="val 4000"/>
            </a:avLst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34272" y="7406640"/>
            <a:ext cx="8412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Vitest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777472" y="7360920"/>
            <a:ext cx="1700784" cy="329184"/>
          </a:xfrm>
          <a:prstGeom prst="roundRect">
            <a:avLst>
              <a:gd name="adj" fmla="val 4000"/>
            </a:avLst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0" y="7406640"/>
            <a:ext cx="1609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Web Audio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</a:rPr>
              <a:t>캐릭터 진화 히스토리 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188720"/>
            <a:ext cx="3291840" cy="621792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291840" cy="54864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" y="1325880"/>
            <a:ext cx="594360" cy="347472"/>
          </a:xfrm>
          <a:prstGeom prst="roundRect">
            <a:avLst>
              <a:gd name="adj" fmla="val 4000"/>
            </a:avLst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1353312"/>
            <a:ext cx="530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783080"/>
            <a:ext cx="29626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0F6FC"/>
                </a:solidFill>
              </a:rPr>
              <a:t>사람형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77440"/>
            <a:ext cx="29626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BoxGeometry 기반
단순 사람 형태
단색 파란색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" y="3749039"/>
            <a:ext cx="2962656" cy="438912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" y="38130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▸  BoxGeometry 사용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" y="4343400"/>
            <a:ext cx="2962656" cy="438912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" y="44074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▸  관절 Group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114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6069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1188720"/>
            <a:ext cx="3291840" cy="621792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86200" y="1188720"/>
            <a:ext cx="3291840" cy="54864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50791" y="1325880"/>
            <a:ext cx="594360" cy="347472"/>
          </a:xfrm>
          <a:prstGeom prst="roundRect">
            <a:avLst>
              <a:gd name="adj" fmla="val 4000"/>
            </a:avLst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87368" y="1353312"/>
            <a:ext cx="530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0791" y="1783080"/>
            <a:ext cx="29626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0F6FC"/>
                </a:solidFill>
              </a:rPr>
              <a:t>오렌지 고양이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2377440"/>
            <a:ext cx="29626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ConeGeo 귀 · SphereGeo 눈
수염 BoxGeo × 6
MeshToonMaterial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3749039"/>
            <a:ext cx="2962656" cy="438912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78808" y="38130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C32"/>
                </a:solidFill>
              </a:rPr>
              <a:t>▸  TetrahedronGeo 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50791" y="4343400"/>
            <a:ext cx="2962656" cy="438912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78808" y="44074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C32"/>
                </a:solidFill>
              </a:rPr>
              <a:t>▸  구체 눈+동공+하이라이트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114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6069"/>
                </a:solidFill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1188720"/>
            <a:ext cx="3291840" cy="621792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52360" y="1188720"/>
            <a:ext cx="329184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16952" y="1325880"/>
            <a:ext cx="594360" cy="347472"/>
          </a:xfrm>
          <a:prstGeom prst="roundRect">
            <a:avLst>
              <a:gd name="adj" fmla="val 4000"/>
            </a:avLst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53528" y="1353312"/>
            <a:ext cx="530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v3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1783080"/>
            <a:ext cx="29626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0F6FC"/>
                </a:solidFill>
              </a:rPr>
              <a:t>삼색 고양이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2" y="2377440"/>
            <a:ext cx="29626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흰 베이스 + blob 패치
보라 목걸이 + 황금 방울
구체 기반 몸통·머리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16952" y="3749039"/>
            <a:ext cx="2962656" cy="438912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44968" y="38130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FB950"/>
                </a:solidFill>
              </a:rPr>
              <a:t>▸  CatmullRomCurve3 꼬리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16952" y="4343400"/>
            <a:ext cx="2962656" cy="438912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44968" y="44074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FB950"/>
                </a:solidFill>
              </a:rPr>
              <a:t>▸  TorusGeo 방울 고리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35640" y="4114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6069"/>
                </a:solidFill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018519" y="1188720"/>
            <a:ext cx="3291840" cy="621792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018519" y="1188720"/>
            <a:ext cx="329184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183111" y="1325880"/>
            <a:ext cx="594360" cy="347472"/>
          </a:xfrm>
          <a:prstGeom prst="roundRect">
            <a:avLst>
              <a:gd name="adj" fmla="val 4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19688" y="1353312"/>
            <a:ext cx="530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v4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83111" y="1783080"/>
            <a:ext cx="29626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0F6FC"/>
                </a:solidFill>
              </a:rPr>
              <a:t>Final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83111" y="2377440"/>
            <a:ext cx="29626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ConeGeo(0.18, 0.46, 3)
넓고 뾰족한 삼각 귀
좌=검정 / 우=주황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183111" y="3749039"/>
            <a:ext cx="2962656" cy="438912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11128" y="38130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</a:rPr>
              <a:t>▸  블러시 패치 (투명도)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183111" y="4343400"/>
            <a:ext cx="2962656" cy="438912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311128" y="44074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</a:rPr>
              <a:t>▸  꼬리 끝 white tip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" y="6812280"/>
            <a:ext cx="13990320" cy="8229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6812280"/>
            <a:ext cx="54864" cy="82296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7022592"/>
            <a:ext cx="1371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꼬리 개선  SphereGeometry × 5 (방귀 같다 😅)  →  CatmullRomCurve3 + TubeGeometry (부드러운 단일 곡선)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</a:rPr>
              <a:t>게임플레이 &amp; 물리 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188720"/>
            <a:ext cx="4572000" cy="621792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457200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0F6FC"/>
                </a:solidFill>
              </a:rPr>
              <a:t>⬆️  점프 물리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4206240" cy="237744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393192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FB950"/>
                </a:solidFill>
              </a:rPr>
              <a:t>GRAVITY = −25
JUMP_FORCE = 11
verticalVelocity 매 프레임 누적
Space키 → isOnGround 검사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434840"/>
            <a:ext cx="13898880" cy="1097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착지 시 squish → spring 복원
공중 arms 펼침 / legs 접힘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188720"/>
            <a:ext cx="4572000" cy="621792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1188720"/>
            <a:ext cx="4572000" cy="54864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13258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0F6FC"/>
                </a:solidFill>
              </a:rPr>
              <a:t>🧱  플랫폼 충돌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920240"/>
            <a:ext cx="4206240" cy="237744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79" y="2029968"/>
            <a:ext cx="393192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32"/>
                </a:solidFill>
              </a:rPr>
              <a:t>STEP_HEIGHT = 0.35
이동 전 XZ 저장
newGroundH &gt; charY+0.35
→ 수평 이동 차단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34840"/>
            <a:ext cx="13898880" cy="1097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452628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높이 0.6 / 1.1 / 1.6m 지원
반드시 점프로만 올라갈 수 있음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1188720"/>
            <a:ext cx="4572000" cy="621792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21240" y="1188720"/>
            <a:ext cx="4572000" cy="54864"/>
          </a:xfrm>
          <a:prstGeom prst="rect">
            <a:avLst/>
          </a:prstGeom>
          <a:solidFill>
            <a:srgbClr val="A5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13258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0F6FC"/>
                </a:solidFill>
              </a:rPr>
              <a:t>🚧  지역 경계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19" y="1920240"/>
            <a:ext cx="4206240" cy="237744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2029968"/>
            <a:ext cx="393192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71FF"/>
                </a:solidFill>
              </a:rPr>
              <a:t>regionForChunk = floor(max(|cx|,|cz|)/3)
잠긴 청크 이동 차단
도로 대역 ±9u는 허용
Proxy 메시 → Full 메시 교환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34840"/>
            <a:ext cx="13898880" cy="1097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452628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도로를 따라 탐험 가능
아이템 수집로 확보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</a:rPr>
              <a:t>사운드 시스템 — Web Audio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371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외부 파일 0개 — 오실레이터·필터·엔벨로프로 순수 신스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6675120" cy="594360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667512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F6FC"/>
                </a:solidFill>
              </a:rPr>
              <a:t>😸  meow — 아이템 수집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6400800" cy="9144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8326"/>
            <a:ext cx="73152" cy="4114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7336" y="2603623"/>
            <a:ext cx="73152" cy="50553"/>
          </a:xfrm>
          <a:prstGeom prst="rect">
            <a:avLst/>
          </a:prstGeom>
          <a:solidFill>
            <a:srgbClr val="FF6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6033" y="2598920"/>
            <a:ext cx="73152" cy="59958"/>
          </a:xfrm>
          <a:prstGeom prst="rect">
            <a:avLst/>
          </a:prstGeom>
          <a:solidFill>
            <a:srgbClr val="FF6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4730" y="2594218"/>
            <a:ext cx="73152" cy="69363"/>
          </a:xfrm>
          <a:prstGeom prst="rect">
            <a:avLst/>
          </a:prstGeom>
          <a:solidFill>
            <a:srgbClr val="FF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3427" y="2589515"/>
            <a:ext cx="73152" cy="78769"/>
          </a:xfrm>
          <a:prstGeom prst="rect">
            <a:avLst/>
          </a:prstGeom>
          <a:solidFill>
            <a:srgbClr val="FF6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92124" y="2584812"/>
            <a:ext cx="73152" cy="88174"/>
          </a:xfrm>
          <a:prstGeom prst="rect">
            <a:avLst/>
          </a:prstGeom>
          <a:solidFill>
            <a:srgbClr val="FF7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0820" y="2580110"/>
            <a:ext cx="73152" cy="97579"/>
          </a:xfrm>
          <a:prstGeom prst="rect">
            <a:avLst/>
          </a:prstGeom>
          <a:solidFill>
            <a:srgbClr val="FF7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9517" y="2575407"/>
            <a:ext cx="73152" cy="106984"/>
          </a:xfrm>
          <a:prstGeom prst="rect">
            <a:avLst/>
          </a:prstGeom>
          <a:solidFill>
            <a:srgbClr val="FF7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58214" y="2570704"/>
            <a:ext cx="73152" cy="116390"/>
          </a:xfrm>
          <a:prstGeom prst="rect">
            <a:avLst/>
          </a:prstGeom>
          <a:solidFill>
            <a:srgbClr val="FF7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46911" y="2566002"/>
            <a:ext cx="73152" cy="125795"/>
          </a:xfrm>
          <a:prstGeom prst="rect">
            <a:avLst/>
          </a:prstGeom>
          <a:solidFill>
            <a:srgbClr val="FF7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35607" y="2561299"/>
            <a:ext cx="73152" cy="135200"/>
          </a:xfrm>
          <a:prstGeom prst="rect">
            <a:avLst/>
          </a:prstGeom>
          <a:solidFill>
            <a:srgbClr val="FF7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24304" y="2556597"/>
            <a:ext cx="73152" cy="144605"/>
          </a:xfrm>
          <a:prstGeom prst="rect">
            <a:avLst/>
          </a:prstGeom>
          <a:solidFill>
            <a:srgbClr val="FF7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13001" y="2551894"/>
            <a:ext cx="73152" cy="154011"/>
          </a:xfrm>
          <a:prstGeom prst="rect">
            <a:avLst/>
          </a:prstGeom>
          <a:solidFill>
            <a:srgbClr val="FF7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01698" y="2547191"/>
            <a:ext cx="73152" cy="163416"/>
          </a:xfrm>
          <a:prstGeom prst="rect">
            <a:avLst/>
          </a:prstGeom>
          <a:solidFill>
            <a:srgbClr val="FF7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90395" y="2542489"/>
            <a:ext cx="73152" cy="172821"/>
          </a:xfrm>
          <a:prstGeom prst="rect">
            <a:avLst/>
          </a:prstGeom>
          <a:solidFill>
            <a:srgbClr val="FF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79092" y="2537786"/>
            <a:ext cx="73152" cy="182226"/>
          </a:xfrm>
          <a:prstGeom prst="rect">
            <a:avLst/>
          </a:prstGeom>
          <a:solidFill>
            <a:srgbClr val="FF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67788" y="2533083"/>
            <a:ext cx="73152" cy="191632"/>
          </a:xfrm>
          <a:prstGeom prst="rect">
            <a:avLst/>
          </a:prstGeom>
          <a:solidFill>
            <a:srgbClr val="FF7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56485" y="2528381"/>
            <a:ext cx="73152" cy="201037"/>
          </a:xfrm>
          <a:prstGeom prst="rect">
            <a:avLst/>
          </a:prstGeom>
          <a:solidFill>
            <a:srgbClr val="FF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45182" y="2527205"/>
            <a:ext cx="73152" cy="203388"/>
          </a:xfrm>
          <a:prstGeom prst="rect">
            <a:avLst/>
          </a:prstGeom>
          <a:solidFill>
            <a:srgbClr val="FF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33879" y="2529556"/>
            <a:ext cx="73152" cy="198686"/>
          </a:xfrm>
          <a:prstGeom prst="rect">
            <a:avLst/>
          </a:prstGeom>
          <a:solidFill>
            <a:srgbClr val="FF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22576" y="2531908"/>
            <a:ext cx="73152" cy="193983"/>
          </a:xfrm>
          <a:prstGeom prst="rect">
            <a:avLst/>
          </a:prstGeom>
          <a:solidFill>
            <a:srgbClr val="FF81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11272" y="2534259"/>
            <a:ext cx="73152" cy="189280"/>
          </a:xfrm>
          <a:prstGeom prst="rect">
            <a:avLst/>
          </a:prstGeom>
          <a:solidFill>
            <a:srgbClr val="FF8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99969" y="2536610"/>
            <a:ext cx="73152" cy="184578"/>
          </a:xfrm>
          <a:prstGeom prst="rect">
            <a:avLst/>
          </a:prstGeom>
          <a:solidFill>
            <a:srgbClr val="FF8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88666" y="2538962"/>
            <a:ext cx="73152" cy="179875"/>
          </a:xfrm>
          <a:prstGeom prst="rect">
            <a:avLst/>
          </a:prstGeom>
          <a:solidFill>
            <a:srgbClr val="FF8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77363" y="2541313"/>
            <a:ext cx="73152" cy="175172"/>
          </a:xfrm>
          <a:prstGeom prst="rect">
            <a:avLst/>
          </a:prstGeom>
          <a:solidFill>
            <a:srgbClr val="FF8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66060" y="2543664"/>
            <a:ext cx="73152" cy="170470"/>
          </a:xfrm>
          <a:prstGeom prst="rect">
            <a:avLst/>
          </a:prstGeom>
          <a:solidFill>
            <a:srgbClr val="FF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54756" y="2546016"/>
            <a:ext cx="73152" cy="165767"/>
          </a:xfrm>
          <a:prstGeom prst="rect">
            <a:avLst/>
          </a:prstGeom>
          <a:solidFill>
            <a:srgbClr val="FF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943453" y="2548367"/>
            <a:ext cx="73152" cy="161065"/>
          </a:xfrm>
          <a:prstGeom prst="rect">
            <a:avLst/>
          </a:prstGeom>
          <a:solidFill>
            <a:srgbClr val="FF8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32150" y="2550718"/>
            <a:ext cx="73152" cy="156362"/>
          </a:xfrm>
          <a:prstGeom prst="rect">
            <a:avLst/>
          </a:prstGeom>
          <a:solidFill>
            <a:srgbClr val="FF8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20847" y="2553070"/>
            <a:ext cx="73152" cy="151659"/>
          </a:xfrm>
          <a:prstGeom prst="rect">
            <a:avLst/>
          </a:prstGeom>
          <a:solidFill>
            <a:srgbClr val="FF8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9544" y="2555421"/>
            <a:ext cx="73152" cy="146957"/>
          </a:xfrm>
          <a:prstGeom prst="rect">
            <a:avLst/>
          </a:prstGeom>
          <a:solidFill>
            <a:srgbClr val="FF8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98240" y="2557772"/>
            <a:ext cx="73152" cy="142254"/>
          </a:xfrm>
          <a:prstGeom prst="rect">
            <a:avLst/>
          </a:prstGeom>
          <a:solidFill>
            <a:srgbClr val="FF8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86937" y="2560124"/>
            <a:ext cx="73152" cy="137551"/>
          </a:xfrm>
          <a:prstGeom prst="rect">
            <a:avLst/>
          </a:prstGeom>
          <a:solidFill>
            <a:srgbClr val="FF8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5634" y="2562475"/>
            <a:ext cx="73152" cy="132849"/>
          </a:xfrm>
          <a:prstGeom prst="rect">
            <a:avLst/>
          </a:prstGeom>
          <a:solidFill>
            <a:srgbClr val="FF9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64331" y="2564826"/>
            <a:ext cx="73152" cy="128146"/>
          </a:xfrm>
          <a:prstGeom prst="rect">
            <a:avLst/>
          </a:prstGeom>
          <a:solidFill>
            <a:srgbClr val="FF9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3028" y="2567178"/>
            <a:ext cx="73152" cy="123444"/>
          </a:xfrm>
          <a:prstGeom prst="rect">
            <a:avLst/>
          </a:prstGeom>
          <a:solidFill>
            <a:srgbClr val="FF9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741724" y="2569529"/>
            <a:ext cx="73152" cy="118741"/>
          </a:xfrm>
          <a:prstGeom prst="rect">
            <a:avLst/>
          </a:prstGeom>
          <a:solidFill>
            <a:srgbClr val="FF9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30421" y="2571880"/>
            <a:ext cx="73152" cy="114038"/>
          </a:xfrm>
          <a:prstGeom prst="rect">
            <a:avLst/>
          </a:prstGeom>
          <a:solidFill>
            <a:srgbClr val="FF9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919118" y="2574231"/>
            <a:ext cx="73152" cy="109336"/>
          </a:xfrm>
          <a:prstGeom prst="rect">
            <a:avLst/>
          </a:prstGeom>
          <a:solidFill>
            <a:srgbClr val="FF9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07815" y="2576583"/>
            <a:ext cx="73152" cy="104633"/>
          </a:xfrm>
          <a:prstGeom prst="rect">
            <a:avLst/>
          </a:prstGeom>
          <a:solidFill>
            <a:srgbClr val="FF9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096511" y="2578934"/>
            <a:ext cx="73152" cy="99930"/>
          </a:xfrm>
          <a:prstGeom prst="rect">
            <a:avLst/>
          </a:prstGeom>
          <a:solidFill>
            <a:srgbClr val="FF9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85208" y="2581285"/>
            <a:ext cx="73152" cy="95228"/>
          </a:xfrm>
          <a:prstGeom prst="rect">
            <a:avLst/>
          </a:prstGeom>
          <a:solidFill>
            <a:srgbClr val="FF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73905" y="2583637"/>
            <a:ext cx="73152" cy="90525"/>
          </a:xfrm>
          <a:prstGeom prst="rect">
            <a:avLst/>
          </a:prstGeom>
          <a:solidFill>
            <a:srgbClr val="FF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62602" y="2585988"/>
            <a:ext cx="73152" cy="85822"/>
          </a:xfrm>
          <a:prstGeom prst="rect">
            <a:avLst/>
          </a:prstGeom>
          <a:solidFill>
            <a:srgbClr val="FF9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451299" y="2588339"/>
            <a:ext cx="73152" cy="81120"/>
          </a:xfrm>
          <a:prstGeom prst="rect">
            <a:avLst/>
          </a:prstGeom>
          <a:solidFill>
            <a:srgbClr val="FF9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39996" y="2590691"/>
            <a:ext cx="73152" cy="76417"/>
          </a:xfrm>
          <a:prstGeom prst="rect">
            <a:avLst/>
          </a:prstGeom>
          <a:solidFill>
            <a:srgbClr val="FF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628692" y="2592601"/>
            <a:ext cx="73152" cy="72596"/>
          </a:xfrm>
          <a:prstGeom prst="rect">
            <a:avLst/>
          </a:prstGeom>
          <a:solidFill>
            <a:srgbClr val="FF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717389" y="2594071"/>
            <a:ext cx="73152" cy="69657"/>
          </a:xfrm>
          <a:prstGeom prst="rect">
            <a:avLst/>
          </a:prstGeom>
          <a:solidFill>
            <a:srgbClr val="FFA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806086" y="2595540"/>
            <a:ext cx="73152" cy="66718"/>
          </a:xfrm>
          <a:prstGeom prst="rect">
            <a:avLst/>
          </a:prstGeom>
          <a:solidFill>
            <a:srgbClr val="FFA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94783" y="2597010"/>
            <a:ext cx="73152" cy="63779"/>
          </a:xfrm>
          <a:prstGeom prst="rect">
            <a:avLst/>
          </a:prstGeom>
          <a:solidFill>
            <a:srgbClr val="FFA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83480" y="2598479"/>
            <a:ext cx="73152" cy="60840"/>
          </a:xfrm>
          <a:prstGeom prst="rect">
            <a:avLst/>
          </a:prstGeom>
          <a:solidFill>
            <a:srgbClr val="FFA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72176" y="2599949"/>
            <a:ext cx="73152" cy="57901"/>
          </a:xfrm>
          <a:prstGeom prst="rect">
            <a:avLst/>
          </a:prstGeom>
          <a:solidFill>
            <a:srgbClr val="FFA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160873" y="2601419"/>
            <a:ext cx="73152" cy="54961"/>
          </a:xfrm>
          <a:prstGeom prst="rect">
            <a:avLst/>
          </a:prstGeom>
          <a:solidFill>
            <a:srgbClr val="FFA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49570" y="2602888"/>
            <a:ext cx="73152" cy="52022"/>
          </a:xfrm>
          <a:prstGeom prst="rect">
            <a:avLst/>
          </a:prstGeom>
          <a:solidFill>
            <a:srgbClr val="FFA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38267" y="2604358"/>
            <a:ext cx="73152" cy="49083"/>
          </a:xfrm>
          <a:prstGeom prst="rect">
            <a:avLst/>
          </a:prstGeom>
          <a:solidFill>
            <a:srgbClr val="FF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26964" y="2605827"/>
            <a:ext cx="73152" cy="46144"/>
          </a:xfrm>
          <a:prstGeom prst="rect">
            <a:avLst/>
          </a:prstGeom>
          <a:solidFill>
            <a:srgbClr val="FFA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5660" y="2607297"/>
            <a:ext cx="73152" cy="43205"/>
          </a:xfrm>
          <a:prstGeom prst="rect">
            <a:avLst/>
          </a:prstGeom>
          <a:solidFill>
            <a:srgbClr val="FFA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04357" y="2608766"/>
            <a:ext cx="73152" cy="40266"/>
          </a:xfrm>
          <a:prstGeom prst="rect">
            <a:avLst/>
          </a:prstGeom>
          <a:solidFill>
            <a:srgbClr val="FFA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93054" y="2610236"/>
            <a:ext cx="73152" cy="37327"/>
          </a:xfrm>
          <a:prstGeom prst="rect">
            <a:avLst/>
          </a:prstGeom>
          <a:solidFill>
            <a:srgbClr val="FFA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81751" y="2611706"/>
            <a:ext cx="73152" cy="34387"/>
          </a:xfrm>
          <a:prstGeom prst="rect">
            <a:avLst/>
          </a:prstGeom>
          <a:solidFill>
            <a:srgbClr val="FFA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70448" y="2613175"/>
            <a:ext cx="73152" cy="31448"/>
          </a:xfrm>
          <a:prstGeom prst="rect">
            <a:avLst/>
          </a:prstGeom>
          <a:solidFill>
            <a:srgbClr val="FFA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59144" y="2614645"/>
            <a:ext cx="73152" cy="28509"/>
          </a:xfrm>
          <a:prstGeom prst="rect">
            <a:avLst/>
          </a:prstGeom>
          <a:solidFill>
            <a:srgbClr val="FFB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47841" y="2616114"/>
            <a:ext cx="73152" cy="25570"/>
          </a:xfrm>
          <a:prstGeom prst="rect">
            <a:avLst/>
          </a:prstGeom>
          <a:solidFill>
            <a:srgbClr val="FFB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36538" y="2617584"/>
            <a:ext cx="73152" cy="22631"/>
          </a:xfrm>
          <a:prstGeom prst="rect">
            <a:avLst/>
          </a:prstGeom>
          <a:solidFill>
            <a:srgbClr val="FFB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25235" y="2619053"/>
            <a:ext cx="73152" cy="19692"/>
          </a:xfrm>
          <a:prstGeom prst="rect">
            <a:avLst/>
          </a:prstGeom>
          <a:solidFill>
            <a:srgbClr val="FFB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13932" y="2620523"/>
            <a:ext cx="73152" cy="16753"/>
          </a:xfrm>
          <a:prstGeom prst="rect">
            <a:avLst/>
          </a:prstGeom>
          <a:solidFill>
            <a:srgbClr val="FFB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02628" y="2620670"/>
            <a:ext cx="73152" cy="16459"/>
          </a:xfrm>
          <a:prstGeom prst="rect">
            <a:avLst/>
          </a:prstGeom>
          <a:solidFill>
            <a:srgbClr val="FFB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91325" y="2620670"/>
            <a:ext cx="73152" cy="16459"/>
          </a:xfrm>
          <a:prstGeom prst="rect">
            <a:avLst/>
          </a:prstGeom>
          <a:solidFill>
            <a:srgbClr val="FFB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0022" y="2620670"/>
            <a:ext cx="73152" cy="16459"/>
          </a:xfrm>
          <a:prstGeom prst="rect">
            <a:avLst/>
          </a:prstGeom>
          <a:solidFill>
            <a:srgbClr val="FFB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8719" y="2620670"/>
            <a:ext cx="73152" cy="16459"/>
          </a:xfrm>
          <a:prstGeom prst="rect">
            <a:avLst/>
          </a:prstGeom>
          <a:solidFill>
            <a:srgbClr val="FFB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4360" y="3246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파형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06040" y="32461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6B9D"/>
                </a:solidFill>
              </a:rPr>
              <a:t>Sawtooth (배음 풍부)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436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기본 주파수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606040" y="38404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6B9D"/>
                </a:solidFill>
              </a:rPr>
              <a:t>520 ~ 660 Hz (고양이 음역)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4360" y="4434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Formant 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06040" y="44348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6B9D"/>
                </a:solidFill>
              </a:rPr>
              <a:t>950 → 1250 → 900 Hz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60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Formant 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06040" y="50292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6B9D"/>
                </a:solidFill>
              </a:rPr>
              <a:t>3200 → 2000 Hz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4360" y="5623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Vibrato LFO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06040" y="56235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6B9D"/>
                </a:solidFill>
              </a:rPr>
              <a:t>7 ~ 9 Hz, ±18 Hz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4360" y="6217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어택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06040" y="62179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6B9D"/>
                </a:solidFill>
              </a:rPr>
              <a:t>30ms soft onset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89520" y="1417320"/>
            <a:ext cx="6675120" cy="594360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589520" y="1417320"/>
            <a:ext cx="66751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818120" y="15544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F6FC"/>
                </a:solidFill>
              </a:rPr>
              <a:t>🌀  또잉 — 점프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726679" y="2194560"/>
            <a:ext cx="6400800" cy="9144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772400" y="2619756"/>
            <a:ext cx="73152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861096" y="2571742"/>
            <a:ext cx="73152" cy="114315"/>
          </a:xfrm>
          <a:prstGeom prst="rect">
            <a:avLst/>
          </a:prstGeom>
          <a:solidFill>
            <a:srgbClr val="FFD6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949793" y="2520807"/>
            <a:ext cx="73152" cy="216184"/>
          </a:xfrm>
          <a:prstGeom prst="rect">
            <a:avLst/>
          </a:prstGeom>
          <a:solidFill>
            <a:srgbClr val="FFD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38490" y="2480031"/>
            <a:ext cx="73152" cy="297737"/>
          </a:xfrm>
          <a:prstGeom prst="rect">
            <a:avLst/>
          </a:prstGeom>
          <a:solidFill>
            <a:srgbClr val="FFD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127187" y="2452409"/>
            <a:ext cx="73152" cy="352981"/>
          </a:xfrm>
          <a:prstGeom prst="rect">
            <a:avLst/>
          </a:prstGeom>
          <a:solidFill>
            <a:srgbClr val="FFD3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215883" y="2439784"/>
            <a:ext cx="73152" cy="378230"/>
          </a:xfrm>
          <a:prstGeom prst="rect">
            <a:avLst/>
          </a:prstGeom>
          <a:solidFill>
            <a:srgbClr val="FFD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304580" y="2442728"/>
            <a:ext cx="73152" cy="372343"/>
          </a:xfrm>
          <a:prstGeom prst="rect">
            <a:avLst/>
          </a:prstGeom>
          <a:solidFill>
            <a:srgbClr val="FFD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393277" y="2460529"/>
            <a:ext cx="73152" cy="336741"/>
          </a:xfrm>
          <a:prstGeom prst="rect">
            <a:avLst/>
          </a:prstGeom>
          <a:solidFill>
            <a:srgbClr val="FFD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81974" y="2491291"/>
            <a:ext cx="73152" cy="275216"/>
          </a:xfrm>
          <a:prstGeom prst="rect">
            <a:avLst/>
          </a:prstGeom>
          <a:solidFill>
            <a:srgbClr val="FFC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570671" y="2532125"/>
            <a:ext cx="73152" cy="193548"/>
          </a:xfrm>
          <a:prstGeom prst="rect">
            <a:avLst/>
          </a:prstGeom>
          <a:solidFill>
            <a:srgbClr val="FFC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659368" y="2579411"/>
            <a:ext cx="73152" cy="98977"/>
          </a:xfrm>
          <a:prstGeom prst="rect">
            <a:avLst/>
          </a:prstGeom>
          <a:solidFill>
            <a:srgbClr val="FFC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748064" y="2619756"/>
            <a:ext cx="73152" cy="18288"/>
          </a:xfrm>
          <a:prstGeom prst="rect">
            <a:avLst/>
          </a:prstGeom>
          <a:solidFill>
            <a:srgbClr val="FFC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836761" y="2580647"/>
            <a:ext cx="73152" cy="96505"/>
          </a:xfrm>
          <a:prstGeom prst="rect">
            <a:avLst/>
          </a:prstGeom>
          <a:solidFill>
            <a:srgbClr val="FFC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925458" y="2538115"/>
            <a:ext cx="73152" cy="181569"/>
          </a:xfrm>
          <a:prstGeom prst="rect">
            <a:avLst/>
          </a:prstGeom>
          <a:solidFill>
            <a:srgbClr val="FFC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014155" y="2504336"/>
            <a:ext cx="73152" cy="249127"/>
          </a:xfrm>
          <a:prstGeom prst="rect">
            <a:avLst/>
          </a:prstGeom>
          <a:solidFill>
            <a:srgbClr val="FFC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102852" y="2481739"/>
            <a:ext cx="73152" cy="294320"/>
          </a:xfrm>
          <a:prstGeom prst="rect">
            <a:avLst/>
          </a:prstGeom>
          <a:solidFill>
            <a:srgbClr val="FFC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191548" y="2471760"/>
            <a:ext cx="73152" cy="314279"/>
          </a:xfrm>
          <a:prstGeom prst="rect">
            <a:avLst/>
          </a:prstGeom>
          <a:solidFill>
            <a:srgbClr val="FFC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280245" y="2474754"/>
            <a:ext cx="73152" cy="308290"/>
          </a:xfrm>
          <a:prstGeom prst="rect">
            <a:avLst/>
          </a:prstGeom>
          <a:solidFill>
            <a:srgbClr val="FFC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368942" y="2490007"/>
            <a:ext cx="73152" cy="277784"/>
          </a:xfrm>
          <a:prstGeom prst="rect">
            <a:avLst/>
          </a:prstGeom>
          <a:solidFill>
            <a:srgbClr val="FFC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457639" y="2515830"/>
            <a:ext cx="73152" cy="226138"/>
          </a:xfrm>
          <a:prstGeom prst="rect">
            <a:avLst/>
          </a:prstGeom>
          <a:solidFill>
            <a:srgbClr val="FFC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546336" y="2549733"/>
            <a:ext cx="73152" cy="158333"/>
          </a:xfrm>
          <a:prstGeom prst="rect">
            <a:avLst/>
          </a:prstGeom>
          <a:solidFill>
            <a:srgbClr val="FFC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635032" y="2588659"/>
            <a:ext cx="73152" cy="80481"/>
          </a:xfrm>
          <a:prstGeom prst="rect">
            <a:avLst/>
          </a:prstGeom>
          <a:solidFill>
            <a:srgbClr val="FFC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723729" y="2619756"/>
            <a:ext cx="73152" cy="18288"/>
          </a:xfrm>
          <a:prstGeom prst="rect">
            <a:avLst/>
          </a:prstGeom>
          <a:solidFill>
            <a:srgbClr val="FFC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12426" y="2589631"/>
            <a:ext cx="73152" cy="78537"/>
          </a:xfrm>
          <a:prstGeom prst="rect">
            <a:avLst/>
          </a:prstGeom>
          <a:solidFill>
            <a:srgbClr val="FFC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901123" y="2555491"/>
            <a:ext cx="73152" cy="146816"/>
          </a:xfrm>
          <a:prstGeom prst="rect">
            <a:avLst/>
          </a:prstGeom>
          <a:solidFill>
            <a:srgbClr val="FFC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989820" y="2528694"/>
            <a:ext cx="73152" cy="200410"/>
          </a:xfrm>
          <a:prstGeom prst="rect">
            <a:avLst/>
          </a:prstGeom>
          <a:solidFill>
            <a:srgbClr val="FFB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078516" y="2511104"/>
            <a:ext cx="73152" cy="235591"/>
          </a:xfrm>
          <a:prstGeom prst="rect">
            <a:avLst/>
          </a:prstGeom>
          <a:solidFill>
            <a:srgbClr val="FFBF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167213" y="2503748"/>
            <a:ext cx="73152" cy="250303"/>
          </a:xfrm>
          <a:prstGeom prst="rect">
            <a:avLst/>
          </a:prstGeom>
          <a:solidFill>
            <a:srgbClr val="FFB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255910" y="2506769"/>
            <a:ext cx="73152" cy="244260"/>
          </a:xfrm>
          <a:prstGeom prst="rect">
            <a:avLst/>
          </a:prstGeom>
          <a:solidFill>
            <a:srgbClr val="FFB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344607" y="2519452"/>
            <a:ext cx="73152" cy="218895"/>
          </a:xfrm>
          <a:prstGeom prst="rect">
            <a:avLst/>
          </a:prstGeom>
          <a:solidFill>
            <a:srgbClr val="FFB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433304" y="2540315"/>
            <a:ext cx="73152" cy="177168"/>
          </a:xfrm>
          <a:prstGeom prst="rect">
            <a:avLst/>
          </a:prstGeom>
          <a:solidFill>
            <a:srgbClr val="FFB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522000" y="2567272"/>
            <a:ext cx="73152" cy="123255"/>
          </a:xfrm>
          <a:prstGeom prst="rect">
            <a:avLst/>
          </a:prstGeom>
          <a:solidFill>
            <a:srgbClr val="FFB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610697" y="2597828"/>
            <a:ext cx="73152" cy="62143"/>
          </a:xfrm>
          <a:prstGeom prst="rect">
            <a:avLst/>
          </a:prstGeom>
          <a:solidFill>
            <a:srgbClr val="FFB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699394" y="2619756"/>
            <a:ext cx="73152" cy="18288"/>
          </a:xfrm>
          <a:prstGeom prst="rect">
            <a:avLst/>
          </a:prstGeom>
          <a:solidFill>
            <a:srgbClr val="FFB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788091" y="2598693"/>
            <a:ext cx="73152" cy="60412"/>
          </a:xfrm>
          <a:prstGeom prst="rect">
            <a:avLst/>
          </a:prstGeom>
          <a:solidFill>
            <a:srgbClr val="FFB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876788" y="2572936"/>
            <a:ext cx="73152" cy="111926"/>
          </a:xfrm>
          <a:prstGeom prst="rect">
            <a:avLst/>
          </a:prstGeom>
          <a:solidFill>
            <a:srgbClr val="FFB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965484" y="2553107"/>
            <a:ext cx="73152" cy="151585"/>
          </a:xfrm>
          <a:prstGeom prst="rect">
            <a:avLst/>
          </a:prstGeom>
          <a:solidFill>
            <a:srgbClr val="FFB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1054181" y="2540502"/>
            <a:ext cx="73152" cy="176794"/>
          </a:xfrm>
          <a:prstGeom prst="rect">
            <a:avLst/>
          </a:prstGeom>
          <a:solidFill>
            <a:srgbClr val="FFB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142878" y="2535747"/>
            <a:ext cx="73152" cy="186305"/>
          </a:xfrm>
          <a:prstGeom prst="rect">
            <a:avLst/>
          </a:prstGeom>
          <a:solidFill>
            <a:srgbClr val="FFB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231575" y="2538773"/>
            <a:ext cx="73152" cy="180253"/>
          </a:xfrm>
          <a:prstGeom prst="rect">
            <a:avLst/>
          </a:prstGeom>
          <a:solidFill>
            <a:srgbClr val="FFB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1320272" y="2548863"/>
            <a:ext cx="73152" cy="160073"/>
          </a:xfrm>
          <a:prstGeom prst="rect">
            <a:avLst/>
          </a:prstGeom>
          <a:solidFill>
            <a:srgbClr val="FFB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1408968" y="2564747"/>
            <a:ext cx="73152" cy="128305"/>
          </a:xfrm>
          <a:prstGeom prst="rect">
            <a:avLst/>
          </a:prstGeom>
          <a:solidFill>
            <a:srgbClr val="FFB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1497665" y="2584742"/>
            <a:ext cx="73152" cy="88315"/>
          </a:xfrm>
          <a:prstGeom prst="rect">
            <a:avLst/>
          </a:prstGeom>
          <a:solidFill>
            <a:srgbClr val="FF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1586362" y="2606919"/>
            <a:ext cx="73152" cy="43961"/>
          </a:xfrm>
          <a:prstGeom prst="rect">
            <a:avLst/>
          </a:prstGeom>
          <a:solidFill>
            <a:srgbClr val="FFA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1675059" y="2619756"/>
            <a:ext cx="73152" cy="18288"/>
          </a:xfrm>
          <a:prstGeom prst="rect">
            <a:avLst/>
          </a:prstGeom>
          <a:solidFill>
            <a:srgbClr val="FFA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1763756" y="2607834"/>
            <a:ext cx="73152" cy="42131"/>
          </a:xfrm>
          <a:prstGeom prst="rect">
            <a:avLst/>
          </a:prstGeom>
          <a:solidFill>
            <a:srgbClr val="FFA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1852452" y="2590450"/>
            <a:ext cx="73152" cy="76899"/>
          </a:xfrm>
          <a:prstGeom prst="rect">
            <a:avLst/>
          </a:prstGeom>
          <a:solidFill>
            <a:srgbClr val="FFA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941149" y="2577572"/>
            <a:ext cx="73152" cy="102654"/>
          </a:xfrm>
          <a:prstGeom prst="rect">
            <a:avLst/>
          </a:prstGeom>
          <a:solidFill>
            <a:srgbClr val="FFA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2029846" y="2569934"/>
            <a:ext cx="73152" cy="117930"/>
          </a:xfrm>
          <a:prstGeom prst="rect">
            <a:avLst/>
          </a:prstGeom>
          <a:solidFill>
            <a:srgbClr val="FF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2118543" y="2567757"/>
            <a:ext cx="73152" cy="122284"/>
          </a:xfrm>
          <a:prstGeom prst="rect">
            <a:avLst/>
          </a:prstGeom>
          <a:solidFill>
            <a:srgbClr val="FFA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2207240" y="2570764"/>
            <a:ext cx="73152" cy="116270"/>
          </a:xfrm>
          <a:prstGeom prst="rect">
            <a:avLst/>
          </a:prstGeom>
          <a:solidFill>
            <a:srgbClr val="FFA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2295936" y="2578239"/>
            <a:ext cx="73152" cy="101320"/>
          </a:xfrm>
          <a:prstGeom prst="rect">
            <a:avLst/>
          </a:prstGeom>
          <a:solidFill>
            <a:srgbClr val="FFA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2384633" y="2589125"/>
            <a:ext cx="73152" cy="79549"/>
          </a:xfrm>
          <a:prstGeom prst="rect">
            <a:avLst/>
          </a:prstGeom>
          <a:solidFill>
            <a:srgbClr val="FF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2473330" y="2602143"/>
            <a:ext cx="73152" cy="53513"/>
          </a:xfrm>
          <a:prstGeom prst="rect">
            <a:avLst/>
          </a:prstGeom>
          <a:solidFill>
            <a:srgbClr val="FF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2562027" y="2615931"/>
            <a:ext cx="73152" cy="25936"/>
          </a:xfrm>
          <a:prstGeom prst="rect">
            <a:avLst/>
          </a:prstGeom>
          <a:solidFill>
            <a:srgbClr val="FFA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2650724" y="2619756"/>
            <a:ext cx="73152" cy="18288"/>
          </a:xfrm>
          <a:prstGeom prst="rect">
            <a:avLst/>
          </a:prstGeom>
          <a:solidFill>
            <a:srgbClr val="FF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2739420" y="2617053"/>
            <a:ext cx="73152" cy="23693"/>
          </a:xfrm>
          <a:prstGeom prst="rect">
            <a:avLst/>
          </a:prstGeom>
          <a:solidFill>
            <a:srgbClr val="FFA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2828117" y="2608032"/>
            <a:ext cx="73152" cy="41734"/>
          </a:xfrm>
          <a:prstGeom prst="rect">
            <a:avLst/>
          </a:prstGeom>
          <a:solidFill>
            <a:srgbClr val="FFA2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2916814" y="2602091"/>
            <a:ext cx="73152" cy="53616"/>
          </a:xfrm>
          <a:prstGeom prst="rect">
            <a:avLst/>
          </a:prstGeom>
          <a:solidFill>
            <a:srgbClr val="FFA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3005511" y="2599400"/>
            <a:ext cx="73152" cy="58998"/>
          </a:xfrm>
          <a:prstGeom prst="rect">
            <a:avLst/>
          </a:prstGeom>
          <a:solidFill>
            <a:srgbClr val="FFA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3094208" y="2599779"/>
            <a:ext cx="73152" cy="58240"/>
          </a:xfrm>
          <a:prstGeom prst="rect">
            <a:avLst/>
          </a:prstGeom>
          <a:solidFill>
            <a:srgbClr val="FF9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3182904" y="2602744"/>
            <a:ext cx="73152" cy="52311"/>
          </a:xfrm>
          <a:prstGeom prst="rect">
            <a:avLst/>
          </a:prstGeom>
          <a:solidFill>
            <a:srgbClr val="FF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3271601" y="2607581"/>
            <a:ext cx="73152" cy="42636"/>
          </a:xfrm>
          <a:prstGeom prst="rect">
            <a:avLst/>
          </a:prstGeom>
          <a:solidFill>
            <a:srgbClr val="F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3360298" y="2613449"/>
            <a:ext cx="73152" cy="30901"/>
          </a:xfrm>
          <a:prstGeom prst="rect">
            <a:avLst/>
          </a:prstGeom>
          <a:solidFill>
            <a:srgbClr val="FF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3448995" y="2619475"/>
            <a:ext cx="73152" cy="18849"/>
          </a:xfrm>
          <a:prstGeom prst="rect">
            <a:avLst/>
          </a:prstGeom>
          <a:solidFill>
            <a:srgbClr val="FF9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3537692" y="2619756"/>
            <a:ext cx="73152" cy="18288"/>
          </a:xfrm>
          <a:prstGeom prst="rect">
            <a:avLst/>
          </a:prstGeom>
          <a:solidFill>
            <a:srgbClr val="FF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3626388" y="2619756"/>
            <a:ext cx="73152" cy="18288"/>
          </a:xfrm>
          <a:prstGeom prst="rect">
            <a:avLst/>
          </a:prstGeom>
          <a:solidFill>
            <a:srgbClr val="FF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3715085" y="2619756"/>
            <a:ext cx="73152" cy="18288"/>
          </a:xfrm>
          <a:prstGeom prst="rect">
            <a:avLst/>
          </a:prstGeom>
          <a:solidFill>
            <a:srgbClr val="FF9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3803782" y="2619756"/>
            <a:ext cx="73152" cy="18288"/>
          </a:xfrm>
          <a:prstGeom prst="rect">
            <a:avLst/>
          </a:prstGeom>
          <a:solidFill>
            <a:srgbClr val="FF9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3892479" y="2619756"/>
            <a:ext cx="73152" cy="18288"/>
          </a:xfrm>
          <a:prstGeom prst="rect">
            <a:avLst/>
          </a:prstGeom>
          <a:solidFill>
            <a:srgbClr val="FF9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818120" y="3246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파형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829800" y="32461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Sine × 2 (7Hz 디튠)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81812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주파수 스윕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829800" y="38404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160 → 820 → 560 Hz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818120" y="4434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지속시간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829800" y="44348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0.22초 빠른 감쇄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818120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스프링 효과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829800" y="50292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두 오실레이터 합산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818120" y="5623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트리거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829800" y="56235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isOnGround 시 Space 입력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65760" y="7543800"/>
            <a:ext cx="13898880" cy="54864"/>
          </a:xfrm>
          <a:prstGeom prst="rect">
            <a:avLst/>
          </a:prstGeom>
          <a:solidFill>
            <a:srgbClr val="586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7200" y="7680960"/>
            <a:ext cx="1389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86069"/>
                </a:solidFill>
              </a:rPr>
              <a:t>공통: AudioContext lazy 생성 (브라우저 autoplay 정책 대응) · 매 호출 랜덤 변주로 반복감 제거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</a:rPr>
              <a:t>핵심 버그 수정 &amp; 인사이트 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34440"/>
            <a:ext cx="6949440" cy="301752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6949440" cy="54864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F6FC"/>
                </a:solidFill>
              </a:rPr>
              <a:t>점프가 시각적으로 안 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2926080" cy="192024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</a:rPr>
              <a:t>❌  원인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visual.position.y에 bob값을 써서
물리 Y값을 프레임마다 덮어씀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965960"/>
            <a:ext cx="3474720" cy="192024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✅  해결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377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outer group = 물리 루트
inner visual = 애니메이션 전용
완전 분리로 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26974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8C32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234440"/>
            <a:ext cx="6949440" cy="301752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1234440"/>
            <a:ext cx="6949440" cy="54864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3716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F6FC"/>
                </a:solidFill>
              </a:rPr>
              <a:t>index.html 누락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965960"/>
            <a:ext cx="2926080" cy="192024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</a:rPr>
              <a:t>❌  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37744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Vite 빌드 'entry module not found'
프로젝트 루트에 HTML 파일 없음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1965960"/>
            <a:ext cx="3474720" cy="192024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✅  해결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2377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index.html 직접 생성
Vite 빌드 정상화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0192" y="26974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9C0FF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4526280"/>
            <a:ext cx="6949440" cy="301752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526280"/>
            <a:ext cx="694944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66344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F6FC"/>
                </a:solidFill>
              </a:rPr>
              <a:t>저장 데이터 크래시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257800"/>
            <a:ext cx="2926080" cy="192024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</a:rPr>
              <a:t>❌  원인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66928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버전/시드 불일치 시 런타임 에러
타입 검사 없이 파싱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66160" y="5257800"/>
            <a:ext cx="3474720" cy="192024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5303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✅  해결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56692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isValidSaveShape() 타입 가드
스키마 버전 관리 추가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0712" y="59893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FB950"/>
                </a:solidFill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0" y="4526280"/>
            <a:ext cx="6949440" cy="301752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89520" y="4526280"/>
            <a:ext cx="6949440" cy="54864"/>
          </a:xfrm>
          <a:prstGeom prst="rect">
            <a:avLst/>
          </a:prstGeom>
          <a:solidFill>
            <a:srgbClr val="A5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8120" y="466344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F6FC"/>
                </a:solidFill>
              </a:rPr>
              <a:t>플랫폼이 건물과 겹침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5257800"/>
            <a:ext cx="2926080" cy="192024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956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</a:rPr>
              <a:t>❌  원인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566928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14u 플랫폼 격자 ↔ 8u 건물 격자
서로 다른 주기라 충돌 발생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835640" y="5257800"/>
            <a:ext cx="3474720" cy="192024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0" y="5303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✅  해결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6692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hasBuildingNearby() 반경 10u
플랫폼 생성 전 충돌 체크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80192" y="59893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571FF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</a:rPr>
              <a:t>테스트 현황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3840480" cy="621792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84048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3840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3FB950"/>
                </a:solidFill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976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B949E"/>
                </a:solidFill>
              </a:rPr>
              <a:t>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0292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FB950"/>
                </a:solidFill>
              </a:rPr>
              <a:t>All Passing 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715000"/>
            <a:ext cx="13898880" cy="1097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58064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9 test files
0 failures
0 skipped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143000"/>
            <a:ext cx="3108960" cy="192024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143000"/>
            <a:ext cx="3108960" cy="54864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28016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8C32"/>
                </a:solidFill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057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C"/>
                </a:solidFill>
              </a:rPr>
              <a:t>RegionManager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tests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560320"/>
            <a:ext cx="2651760" cy="1097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2560320"/>
            <a:ext cx="2651760" cy="109728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09560" y="1143000"/>
            <a:ext cx="3108960" cy="192024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1143000"/>
            <a:ext cx="3108960" cy="54864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28016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79C0FF"/>
                </a:solidFill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057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C"/>
                </a:solidFill>
              </a:rPr>
              <a:t>ProgressSystem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7656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tests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2560320"/>
            <a:ext cx="2651760" cy="1097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2560320"/>
            <a:ext cx="2121408" cy="109728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247120" y="1143000"/>
            <a:ext cx="3108960" cy="192024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247120" y="1143000"/>
            <a:ext cx="310896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0" y="128016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3FB950"/>
                </a:solidFill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2057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C"/>
                </a:solidFill>
              </a:rPr>
              <a:t>ItemSystem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22608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tests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0" y="2560320"/>
            <a:ext cx="2651760" cy="1097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2560320"/>
            <a:ext cx="1591056" cy="10972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0" y="3383280"/>
            <a:ext cx="3108960" cy="192024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0" y="3383280"/>
            <a:ext cx="3108960" cy="54864"/>
          </a:xfrm>
          <a:prstGeom prst="rect">
            <a:avLst/>
          </a:prstGeom>
          <a:solidFill>
            <a:srgbClr val="A5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352044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A571FF"/>
                </a:solidFill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297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C"/>
                </a:solidFill>
              </a:rPr>
              <a:t>SaveSystem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3703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tests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4800600"/>
            <a:ext cx="2651760" cy="1097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54880" y="4800600"/>
            <a:ext cx="1237488" cy="109728"/>
          </a:xfrm>
          <a:prstGeom prst="rect">
            <a:avLst/>
          </a:prstGeom>
          <a:solidFill>
            <a:srgbClr val="A5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909560" y="3383280"/>
            <a:ext cx="3108960" cy="192024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3383280"/>
            <a:ext cx="310896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92440" y="352044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6B9D"/>
                </a:solidFill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4297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C"/>
                </a:solidFill>
              </a:rPr>
              <a:t>noise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048" y="3703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tests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4800600"/>
            <a:ext cx="2651760" cy="1097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92440" y="4800600"/>
            <a:ext cx="1060704" cy="10972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1247120" y="3383280"/>
            <a:ext cx="3108960" cy="192024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47120" y="3383280"/>
            <a:ext cx="31089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0" y="352044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D700"/>
                </a:solidFill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0" y="4297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C"/>
                </a:solidFill>
              </a:rPr>
              <a:t>Controller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22608" y="3703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tests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0" y="4800600"/>
            <a:ext cx="2651760" cy="1097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0" y="4800600"/>
            <a:ext cx="883919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572000" y="5623560"/>
            <a:ext cx="3108960" cy="192024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0" y="5623560"/>
            <a:ext cx="3108960" cy="54864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0" y="57607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79C0FF"/>
                </a:solidFill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54880" y="6537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C"/>
                </a:solidFill>
              </a:rPr>
              <a:t>pool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47488" y="5943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tests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54880" y="7040880"/>
            <a:ext cx="2651760" cy="1097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754880" y="7040880"/>
            <a:ext cx="883919" cy="109728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909560" y="5623560"/>
            <a:ext cx="3108960" cy="192024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909560" y="5623560"/>
            <a:ext cx="3108960" cy="54864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92440" y="57607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8C32"/>
                </a:solidFill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2440" y="6537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C"/>
                </a:solidFill>
              </a:rPr>
              <a:t>ChunkGenerator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5048" y="5943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tests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92440" y="7040880"/>
            <a:ext cx="2651760" cy="1097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092440" y="7040880"/>
            <a:ext cx="707136" cy="109728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1247120" y="5623560"/>
            <a:ext cx="3108960" cy="1920240"/>
          </a:xfrm>
          <a:prstGeom prst="roundRect">
            <a:avLst>
              <a:gd name="adj" fmla="val 4000"/>
            </a:avLst>
          </a:prstGeom>
          <a:solidFill>
            <a:srgbClr val="1C242E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247120" y="5623560"/>
            <a:ext cx="310896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430000" y="57607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3FB950"/>
                </a:solidFill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30000" y="6537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6FC"/>
                </a:solidFill>
              </a:rPr>
              <a:t>chunkWorker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722608" y="5943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tests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430000" y="7040880"/>
            <a:ext cx="2651760" cy="1097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430000" y="7040880"/>
            <a:ext cx="353568" cy="10972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</a:rPr>
              <a:t>완성된 게임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640080"/>
            <a:ext cx="8229600" cy="7406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0"/>
            <a:ext cx="365760" cy="8229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5577840" cy="5029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26187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6FC"/>
                </a:solidFill>
              </a:rPr>
              <a:t>WASD 이동 + 스페이스 점프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10512"/>
            <a:ext cx="5577840" cy="5029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562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88366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6FC"/>
                </a:solidFill>
              </a:rPr>
              <a:t>청크 기반 무한 3D 마을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432304"/>
            <a:ext cx="5577840" cy="5029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7802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50545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6FC"/>
                </a:solidFill>
              </a:rPr>
              <a:t>삼색 고양이 (구체 기반)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054096"/>
            <a:ext cx="5577840" cy="5029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998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12724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6FC"/>
                </a:solidFill>
              </a:rPr>
              <a:t>단차 플랫폼 (점프로만)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75888"/>
            <a:ext cx="5577840" cy="5029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21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49039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6FC"/>
                </a:solidFill>
              </a:rPr>
              <a:t>지역 잠금 &amp; 해금 시스템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297680"/>
            <a:ext cx="5577840" cy="5029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7083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6FC"/>
                </a:solidFill>
              </a:rPr>
              <a:t>아이템 수집 + 꽃가루 FX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919472"/>
            <a:ext cx="5577840" cy="5029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9651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99262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6FC"/>
                </a:solidFill>
              </a:rPr>
              <a:t>meow + 또잉 효과음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541264"/>
            <a:ext cx="5577840" cy="5029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5869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61441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6FC"/>
                </a:solidFill>
              </a:rPr>
              <a:t>화면 하단 WASD UI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6163056"/>
            <a:ext cx="5577840" cy="5029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2087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623620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6FC"/>
                </a:solidFill>
              </a:rPr>
              <a:t>글라스모피즘 HUD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6784848"/>
            <a:ext cx="5577840" cy="5029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8305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685800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6FC"/>
                </a:solidFill>
              </a:rPr>
              <a:t>30초 자동 저장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7406640"/>
            <a:ext cx="5577840" cy="5029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7452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747979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6FC"/>
                </a:solidFill>
              </a:rPr>
              <a:t>65개 테스트 전부 통과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4630400" cy="4572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572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14630400" cy="4572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657600"/>
            <a:ext cx="14630400" cy="4572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14630400" cy="4572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486400"/>
            <a:ext cx="14630400" cy="4572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4630400" cy="4572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7315200"/>
            <a:ext cx="14630400" cy="4572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8872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8016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630400" y="0"/>
            <a:ext cx="4572" cy="8229600"/>
          </a:xfrm>
          <a:prstGeom prst="rect">
            <a:avLst/>
          </a:prstGeom>
          <a:solidFill>
            <a:srgbClr val="20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4630400" cy="45720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10972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0F6FC"/>
                </a:solidFill>
              </a:rPr>
              <a:t>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3017520"/>
            <a:ext cx="1463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0F6FC"/>
                </a:solidFill>
              </a:rPr>
              <a:t>Thank you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4480560"/>
            <a:ext cx="6400800" cy="36576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0" y="4709160"/>
            <a:ext cx="1463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949E"/>
                </a:solidFill>
              </a:rPr>
              <a:t>walk3d — OMC 멀티에이전트로 만든 귀여운 3D 마을 탐험 게임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5577840"/>
            <a:ext cx="1463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8C32"/>
                </a:solidFill>
              </a:rPr>
              <a:t>npm run dev   →   localhost:3000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0" y="6675120"/>
            <a:ext cx="1152144" cy="329184"/>
          </a:xfrm>
          <a:prstGeom prst="roundRect">
            <a:avLst>
              <a:gd name="adj" fmla="val 4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50208" y="6720840"/>
            <a:ext cx="1060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Three.js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57800" y="6675120"/>
            <a:ext cx="1371600" cy="329184"/>
          </a:xfrm>
          <a:prstGeom prst="roundRect">
            <a:avLst>
              <a:gd name="adj" fmla="val 4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67528" y="67208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TypeScript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6675120"/>
            <a:ext cx="932688" cy="329184"/>
          </a:xfrm>
          <a:prstGeom prst="roundRect">
            <a:avLst>
              <a:gd name="adj" fmla="val 4000"/>
            </a:avLst>
          </a:prstGeom>
          <a:solidFill>
            <a:srgbClr val="A5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84848" y="6720840"/>
            <a:ext cx="8412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Vite 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6675120"/>
            <a:ext cx="1371600" cy="329184"/>
          </a:xfrm>
          <a:prstGeom prst="roundRect">
            <a:avLst>
              <a:gd name="adj" fmla="val 4000"/>
            </a:avLst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02168" y="67208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65 Tests 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09760" y="6675120"/>
            <a:ext cx="1261872" cy="329184"/>
          </a:xfrm>
          <a:prstGeom prst="roundRect">
            <a:avLst>
              <a:gd name="adj" fmla="val 4000"/>
            </a:avLst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19488" y="6720840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Web Audio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