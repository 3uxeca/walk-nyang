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1">
                <a:solidFill>
                  <a:srgbClr val="6A4C93"/>
                </a:solidFill>
                <a:latin typeface="Pretendard"/>
              </a:rPr>
              <a:t>walk3d · v2 UPDATE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4400" b="1">
                <a:solidFill>
                  <a:srgbClr val="F06292"/>
                </a:solidFill>
                <a:latin typeface="Pretendard"/>
              </a:rPr>
              <a:t>🐈 고양이와 걷는 3D 마을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800" b="0">
                <a:solidFill>
                  <a:srgbClr val="303030"/>
                </a:solidFill>
                <a:latin typeface="Pretendard"/>
              </a:rPr>
              <a:t>에셋 · UI · 월드 시스템 전면 교체</a:t>
            </a:r>
          </a:p>
        </p:txBody>
      </p:sp>
      <p:pic>
        <p:nvPicPr>
          <p:cNvPr id="7" name="Picture 6" descr="screen-he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651760"/>
            <a:ext cx="3572552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0">
                <a:solidFill>
                  <a:srgbClr val="707070"/>
                </a:solidFill>
                <a:latin typeface="Pretendard"/>
              </a:rPr>
              <a:t>TypeScript · Three.js · Vite · Web Audio     |     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게임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플레이어가 고양이가 되어 절차적으로 생성되는 3D 마을을 걷는 힐링 게임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-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078979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554480"/>
            <a:ext cx="5760720" cy="47548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03030"/>
                </a:solidFill>
                <a:latin typeface="Pretendard"/>
              </a:rPr>
              <a:t>• 자유 탐험 — 무한하게 이어지는 절차적 청크 월드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707070"/>
                </a:solidFill>
                <a:latin typeface="Pretendard"/>
              </a:rPr>
              <a:t>◦ 결정적 생성 (same seed → same world)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707070"/>
                </a:solidFill>
                <a:latin typeface="Pretendard"/>
              </a:rPr>
              <a:t>◦ 청크당 건물 · 소품 · 아이템 시드 기반 배치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03030"/>
                </a:solidFill>
                <a:latin typeface="Pretendard"/>
              </a:rPr>
              <a:t>• 4개 지역 (Meadow / Harbor / Forest / Wildlands)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707070"/>
                </a:solidFill>
                <a:latin typeface="Pretendard"/>
              </a:rPr>
              <a:t>◦ 레벨 달성 시 자동 언락, 도로로만 이동 허용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03030"/>
                </a:solidFill>
                <a:latin typeface="Pretendard"/>
              </a:rPr>
              <a:t>• 아이템 3종 (별 · 코인 · 젬) 수집 게임플레이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03030"/>
                </a:solidFill>
                <a:latin typeface="Pretendard"/>
              </a:rPr>
              <a:t>• idle 5초 → 고양이 그르렁 + 춤 + 하트 파티클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03030"/>
                </a:solidFill>
                <a:latin typeface="Pretendard"/>
              </a:rPr>
              <a:t>• 브라우저 하나로 플레이 (빌드 ≈ 177KB gzip)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2 /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v1 → v2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에셋·비주얼·시스템 전방위 교체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6035040"/>
              </a:tblGrid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영역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v1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v2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월드 에셋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전부 절차적 박스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Kenney City Kit GLB + 절차적 폴백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도로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폭 3유닛 단색 2장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총 폭 14유닛 · 인도/중앙선/엣지 · non-overlap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지형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단색 MeshToon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ShaderMaterial 격자 + 지역별 팔레트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하늘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단색 배경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그라디언트 하늘 돔 + 구름 퍼프 12개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사운드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synth만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Freesound CC0 meow/purr/footstep 3종 추가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UI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기본 HUD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컨트롤 HUD · 언락 FX · 수집 이펙트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이펙트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없음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하트 파티클 · 건물 투명화 · CollectFX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세이브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v1 flat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schema v2 · 아이템 좌표 버전관리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웹 3D · 시드 기반 생성 · 테스트 커버리지 65개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000" b="1">
                <a:solidFill>
                  <a:srgbClr val="6A4C93"/>
                </a:solidFill>
                <a:latin typeface="Pretendard"/>
              </a:rPr>
              <a:t>런타임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486400" cy="4114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TypeScript 5.x · strict mode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Three.js — WebGLRenderer + PCF Soft Shadow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707070"/>
                </a:solidFill>
                <a:latin typeface="Pretendard"/>
              </a:rPr>
              <a:t>◦ GLTFLoader / SkeletonUtils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707070"/>
                </a:solidFill>
                <a:latin typeface="Pretendard"/>
              </a:rPr>
              <a:t>◦ MeshToonMaterial · ShaderMaterial · Raycaster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Web Audio API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707070"/>
                </a:solidFill>
                <a:latin typeface="Pretendard"/>
              </a:rPr>
              <a:t>◦ PCM 재생 + 실시간 합성 혼합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Web Worker — chunkWorker.ts 청크 프리패스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000" b="1">
                <a:solidFill>
                  <a:srgbClr val="6A4C93"/>
                </a:solidFill>
                <a:latin typeface="Pretendard"/>
              </a:rPr>
              <a:t>빌드 / 품질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486400" cy="4114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Vite 6 — dev HMR + prod build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Vitest — 65 test · 9 files 전부 통과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tsc --noEmit 타입 체크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polygonOffset · userData.occludable 등 렌더 테크닉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결정적 RNG (seed-based chunkSeed)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localStorage 세이브 + schema versioning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52160"/>
            <a:ext cx="1645920" cy="365760"/>
          </a:xfrm>
          <a:prstGeom prst="round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1">
                <a:solidFill>
                  <a:srgbClr val="C62828"/>
                </a:solidFill>
                <a:latin typeface="Pretendard"/>
              </a:rPr>
              <a:t>TypeScript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852160"/>
            <a:ext cx="1645920" cy="365760"/>
          </a:xfrm>
          <a:prstGeom prst="round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1">
                <a:solidFill>
                  <a:srgbClr val="C62828"/>
                </a:solidFill>
                <a:latin typeface="Pretendard"/>
              </a:rPr>
              <a:t>Three.js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5852160"/>
            <a:ext cx="1645920" cy="365760"/>
          </a:xfrm>
          <a:prstGeom prst="round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1">
                <a:solidFill>
                  <a:srgbClr val="C62828"/>
                </a:solidFill>
                <a:latin typeface="Pretendard"/>
              </a:rPr>
              <a:t>Vite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5852160"/>
            <a:ext cx="1645920" cy="365760"/>
          </a:xfrm>
          <a:prstGeom prst="round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1">
                <a:solidFill>
                  <a:srgbClr val="C62828"/>
                </a:solidFill>
                <a:latin typeface="Pretendard"/>
              </a:rPr>
              <a:t>Vitest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5852160"/>
            <a:ext cx="1645920" cy="365760"/>
          </a:xfrm>
          <a:prstGeom prst="round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1">
                <a:solidFill>
                  <a:srgbClr val="C62828"/>
                </a:solidFill>
                <a:latin typeface="Pretendard"/>
              </a:rPr>
              <a:t>Web Audio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5852160"/>
            <a:ext cx="1645920" cy="365760"/>
          </a:xfrm>
          <a:prstGeom prst="round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1">
                <a:solidFill>
                  <a:srgbClr val="C62828"/>
                </a:solidFill>
                <a:latin typeface="Pretendard"/>
              </a:rPr>
              <a:t>WebGL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4 / 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사용 에셋 — 3D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CC0 · Kenney / Quaternius 추정 · 전 에셋 머티리얼 깊은 복제 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1554480"/>
                <a:gridCol w="365760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분류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파일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개수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출처 추정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캐릭터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cat/Cat.glb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1 (스킨드)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Quaternius RPG Animals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건물 (주거)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suburban/house · apartment.glb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Kenney City Kit (Suburban)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건물 (상업)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commercial/shop · cafe · tower.glb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Kenney City Kit (Commercial)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소품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tree · flower · lamp · bench · mailbox.glb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Kenney Nature / City Kit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도로 (미사용)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roads/road_*.glb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미사용 (RoadGrid.ts로 절차적 생성)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아이템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(파일 없음)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코드 내 절차적 생성 (ItemSystem.ts)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600" b="1">
                <a:solidFill>
                  <a:srgbClr val="6A4C93"/>
                </a:solidFill>
                <a:latin typeface="Pretendard"/>
              </a:rPr>
              <a:t>라이선스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72800" cy="11887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Kenney 에셋: CC0 (Public Domain) — https://kenney.nl/assets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Quaternius 에셋(추정): CC0 — https://quaternius.com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정확한 팩 ID/URL은 공개 배포 시 README에 명시 권장 (ASSETS.md 참조)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5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사용 에셋 — 사운드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Freesound.org · Creative Commons 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88720"/>
                <a:gridCol w="4114800"/>
                <a:gridCol w="36576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파일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포맷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용도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처리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meow.wav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WAV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아이템 수집 시 야옹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피치 랜덤 ±10%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purring.ogg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OGG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idle 5초 그르렁 (loop)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fade-in 1.5s · fade-out 0.6s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footstep.ogg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OGG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걷기/대시 발걸음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피치 랜덤 · 하이패스 200Hz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600" b="1">
                <a:solidFill>
                  <a:srgbClr val="6A4C93"/>
                </a:solidFill>
                <a:latin typeface="Pretendard"/>
              </a:rPr>
              <a:t>Web Audio 합성 (파일 없음)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972800" cy="21031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playJump() — 또잉! 디튠된 사인파 2개 (0.22s)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playDashWhoosh() — sawtooth + 22Hz 비브라토 LFO + 포먼트 필터로 고양이 트릴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playMeow() 폴백 — 2단 bandpass + 사인 비브라토 (파일 로드 실패 시)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03030"/>
                </a:solidFill>
                <a:latin typeface="Pretendard"/>
              </a:rPr>
              <a:t>• playFootstep() 폴백 — 짧은 사인 톤 + exponential decay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6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주요 업데이트 ① 월드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청크 좌표계 근본 수정 + 도로 non-overlap 타일 재설계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700" b="1">
                <a:solidFill>
                  <a:srgbClr val="6A4C93"/>
                </a:solidFill>
                <a:latin typeface="Pretendard"/>
              </a:rPr>
              <a:t>청크 좌표계 버그 근본 수정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486400" cy="1828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문제: 아이템이 잠긴 지역에 스폰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707070"/>
                </a:solidFill>
                <a:latin typeface="Pretendard"/>
              </a:rPr>
              <a:t>◦ 원인: cx·32 중심으로 ±range → 절반이 인접 청크로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707070"/>
                </a:solidFill>
                <a:latin typeface="Pretendard"/>
              </a:rPr>
              <a:t>◦ 해결: (cx+0.5)·32 (청크 내부 중심)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세이브 schema v2로 기존 좌표 invalidate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4864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700" b="1">
                <a:solidFill>
                  <a:srgbClr val="6A4C93"/>
                </a:solidFill>
                <a:latin typeface="Pretendard"/>
              </a:rPr>
              <a:t>도로 레이아웃 재작성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5486400" cy="1828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EW 풀폭 1장 + NS 2토막 (길이 11) — 교차점 겹침 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EW 인도 2토막 + NS 인도 2토막 (모서리 포함)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엣지/대시 Y 레이어 분리 + polygonOffset</a:t>
            </a:r>
          </a:p>
        </p:txBody>
      </p:sp>
      <p:pic>
        <p:nvPicPr>
          <p:cNvPr id="11" name="Picture 10" descr="screen-t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888755" cy="4754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7 /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주요 업데이트 ② 비주얼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하늘 · 지형 · Z-fighting · 건물 투명화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>
                <a:solidFill>
                  <a:srgbClr val="6A4C93"/>
                </a:solidFill>
                <a:latin typeface="Pretendard"/>
              </a:rPr>
              <a:t>하늘 / 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486400" cy="12801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SkySystem — 반경 180 BackSide 돔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GLSL 그라디언트 셰이더 (topColor · horizonColor)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느리게 오실레이션하는 구름 퍼프 12개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scene.fog 40–110 유닛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>
                <a:solidFill>
                  <a:srgbClr val="6A4C93"/>
                </a:solidFill>
                <a:latin typeface="Pretendard"/>
              </a:rPr>
              <a:t>지형 / 셰이더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5486400" cy="12801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ShaderMaterial 격자 패턴 (UV mod step)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지역별 팔레트 4종 — 언락 색상 연계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54864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>
                <a:solidFill>
                  <a:srgbClr val="6A4C93"/>
                </a:solidFill>
                <a:latin typeface="Pretendard"/>
              </a:rPr>
              <a:t>Z-fighting 전면 해결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5486400" cy="1371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글로벌 300×300 바닥 제거 → 청크별 단일화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도로/인도/엣지/대시 Y 레이어 (0.02/0.03/0.04)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polygonOffset 모든 도로 재질 적용</a:t>
            </a:r>
          </a:p>
        </p:txBody>
      </p:sp>
      <p:pic>
        <p:nvPicPr>
          <p:cNvPr id="13" name="Picture 12" descr="screen-he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888755" cy="4754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8 /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주요 업데이트 ③ 게임플레이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물리 · 지역 언락 · 이동 컨트롤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700" b="1">
                <a:solidFill>
                  <a:srgbClr val="6A4C93"/>
                </a:solidFill>
                <a:latin typeface="Pretendard"/>
              </a:rPr>
              <a:t>물리 · 충돌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1828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BuildingColliders — 원통형 충돌 레지스트리 (반경 3.8)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707070"/>
                </a:solidFill>
                <a:latin typeface="Pretendard"/>
              </a:rPr>
              <a:t>◦ 청크 로드/언로드 시 등록/해제 자동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X/Z 축 분리 슬라이딩 충돌로 벽 따라 미끄러짐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지형 STEP_HEIGHT = 0.35 이하 자동 오름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700" b="1">
                <a:solidFill>
                  <a:srgbClr val="6A4C93"/>
                </a:solidFill>
                <a:latin typeface="Pretendard"/>
              </a:rPr>
              <a:t>지역 언락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11887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4개 지역 · 레벨업으로 자동 언락 + RegionUnlockFX 오버레이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잠긴 영역은 도로 밴드(ROAD_HALF=9)만 진입 허용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700" b="1">
                <a:solidFill>
                  <a:srgbClr val="6A4C93"/>
                </a:solidFill>
                <a:latin typeface="Pretendard"/>
              </a:rPr>
              <a:t>대시 · 점프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972800" cy="10972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Shift 대시 8→18 + dashWhoosh 트릴 사운드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03030"/>
                </a:solidFill>
                <a:latin typeface="Pretendard"/>
              </a:rPr>
              <a:t>• Space 점프 JUMP_FORCE 11 · GRAVITY -25 · 착지 감지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9 /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주요 업데이트 ④ UI / FX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HUD · 하트 파티클 · 건물 투명화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-oc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242138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463040"/>
            <a:ext cx="59436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>
                <a:solidFill>
                  <a:srgbClr val="6A4C93"/>
                </a:solidFill>
                <a:latin typeface="Pretendard"/>
              </a:rPr>
              <a:t>컨트롤 HUD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943600" cy="12801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좌상단 수집 진행도 + 현재 지역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하단 WASD / DASH / JUMP 키가이드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키 입력 시 하이라이트 애니메이션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59436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>
                <a:solidFill>
                  <a:srgbClr val="6A4C93"/>
                </a:solidFill>
                <a:latin typeface="Pretendard"/>
              </a:rPr>
              <a:t>HeartFX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5943600" cy="12801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idle 5초 후 하트 위로 천천히 떠오름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4색 랜덤 · bezier heart · billboard lookAt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fade in 0–20% · hold · fade out 60–100%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59436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>
                <a:solidFill>
                  <a:srgbClr val="6A4C93"/>
                </a:solidFill>
                <a:latin typeface="Pretendard"/>
              </a:rPr>
              <a:t>건물 투명화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5943600" cy="12801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카메라→고양이 Raycaster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가리는 건물 전체 메시 0.18 opacity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인스턴스별 머티리얼 복제 (전염 버그 해결)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10 /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해결된 버그 — 3회차 12건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v2에서 전부 fix · FIXES.md 참조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914400"/>
                <a:gridCol w="4114800"/>
                <a:gridCol w="5760720"/>
              </a:tblGrid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6A4C93"/>
                          </a:solidFill>
                          <a:latin typeface="Pretendard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6A4C93"/>
                          </a:solidFill>
                          <a:latin typeface="Pretendard"/>
                        </a:rPr>
                        <a:t>영역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6A4C93"/>
                          </a:solidFill>
                          <a:latin typeface="Pretendard"/>
                        </a:rPr>
                        <a:t>이슈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6A4C93"/>
                          </a:solidFill>
                          <a:latin typeface="Pretendard"/>
                        </a:rPr>
                        <a:t>핵심 해결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월드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도로에 건물이 막힘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셀 스킵 &amp;&amp; → ||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에셋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벤치 너무 작음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GLTF scale 0.9 → 2.2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물리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고양이가 건물 관통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원통 충돌 + 슬라이딩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월드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경계 아이템 접근 불가(1차)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스폰 반경 0.8 → 0.55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에셋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가로등 작고 비대칭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scale 1.8 → 5.0, 대칭형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에셋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코인이 눕혀서 회전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rotation.x = π/2 + 토러스 제거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에셋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나무 너무 작음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scale 2.5 → 4.0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렌더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고양이 시야 방해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카메라→고양이 레이캐스트 투명화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월드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가로등이 도로에 스폰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도로 밴드 ±7 유닛 스킵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월드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잠긴 지역 아이템 (근본)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중심 (cx+0.5)·CHUNK_SIZE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비주얼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도로/지형 단순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RoadGrid 재작성 + 지형 셰이더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렌더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Z-fighting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Y 레이어 + polygonOffset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11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v2 후반 추가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머티리얼 공유 · 바닥 깜빡임 · 도로 교차 겹침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700" b="1">
                <a:solidFill>
                  <a:srgbClr val="F06292"/>
                </a:solidFill>
                <a:latin typeface="Pretendard"/>
              </a:rPr>
              <a:t>🧵 빌딩 머티리얼 공유 버그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증상: 고양이 앞 건물 외에 멀리 있는 동일 타입 건물도 함께 투명해짐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원인: THREE.Group.clone()은 머티리얼을 공유 — 한 인스턴스의 opacity 변경이 전파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해결: AssetManager.clone()에서 머티리얼 깊은 복제 (material.clone())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700" b="1">
                <a:solidFill>
                  <a:srgbClr val="F06292"/>
                </a:solidFill>
                <a:latin typeface="Pretendard"/>
              </a:rPr>
              <a:t>🟢 바닥 전체 깜빡임 (심각)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72800" cy="10972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main.ts의 300×300 글로벌 바닥과 청크별 32×32 바닥이 둘 다 y=0.0에 coplanar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이동 중 카메라 변경 → 전 영역 z-fighting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해결: 글로벌 바닥 제거 → 청크 바닥으로 단일화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700" b="1">
                <a:solidFill>
                  <a:srgbClr val="F06292"/>
                </a:solidFill>
                <a:latin typeface="Pretendard"/>
              </a:rPr>
              <a:t>🛣️ 도로 EW/NS 교차점 겹침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NS 도로를 EW 도로를 피해 두 토막(길이 11)으로 분할 — 10×10 겹침 제거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12 /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아키텍처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시드 기반 결정적 월드 · 모듈형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FFB3C6"/>
            </a:solidFill>
          </a:ln>
        </p:spPr>
        <p:txBody>
          <a:bodyPr wrap="square" tIns="137160" bIns="137160" lIns="228600" rIns="228600">
            <a:spAutoFit/>
          </a:bodyPr>
          <a:lstStyle/>
          <a:p>
            <a:r>
              <a:rPr sz="1300">
                <a:solidFill>
                  <a:srgbClr val="303030"/>
                </a:solidFill>
                <a:latin typeface="Menlo"/>
              </a:rPr>
              <a:t>main.ts (게임 루프)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├─ Character · Controller · ThirdPersonCamera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├─ ChunkManager → ChunkGenerator → ChunkMeshFactory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│                                   ├─ RoadGrid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│                                   ├─ Buildings ┐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│                                   ├─ Props     ├ AssetManager (GLB + 폴백)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│                                   └─ Items     ┘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├─ Terrain · BuildingColliders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├─ ItemSystem · ProgressSystem · RegionManager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├─ SaveSystem (localStorage + schema v2)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├─ SoundSystem (Web Audio)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├─ HUD · ControlsHUD · RegionUnlockFX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├─ CollectFX · HeartFX · SkySystem</a:t>
            </a:r>
          </a:p>
          <a:p>
            <a:r>
              <a:rPr sz="1300">
                <a:solidFill>
                  <a:srgbClr val="303030"/>
                </a:solidFill>
                <a:latin typeface="Menlo"/>
              </a:rPr>
              <a:t>└─ WORLD_SEED (결정적 월드)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300" b="1">
                <a:solidFill>
                  <a:srgbClr val="6A4C93"/>
                </a:solidFill>
                <a:latin typeface="Pretendard"/>
              </a:rPr>
              <a:t>결정적 생성 — 같은 seed는 항상 같은 월드 (플레이어 간 공유 가능)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13 /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개발 프로세스 — OMC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Deep Interview → RALPLAN-DR Consensus → Ralph PRD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700" b="1">
                <a:solidFill>
                  <a:srgbClr val="6A4C93"/>
                </a:solidFill>
                <a:latin typeface="Pretendard"/>
              </a:rPr>
              <a:t>3단계 자동화 파이프라인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5486400" cy="1143000"/>
          </a:xfrm>
          <a:prstGeom prst="round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521208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1">
                <a:solidFill>
                  <a:srgbClr val="F06292"/>
                </a:solidFill>
                <a:latin typeface="Pretendard"/>
              </a:rPr>
              <a:t>1. Deep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521208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0">
                <a:solidFill>
                  <a:srgbClr val="303030"/>
                </a:solidFill>
                <a:latin typeface="Pretendard"/>
              </a:rPr>
              <a:t>요구사항 6라운드 인터뷰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521208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Pretendard"/>
              </a:rPr>
              <a:t>→ 모호도 18%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5486400" cy="1143000"/>
          </a:xfrm>
          <a:prstGeom prst="round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521208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1">
                <a:solidFill>
                  <a:srgbClr val="6A4C93"/>
                </a:solidFill>
                <a:latin typeface="Pretendard"/>
              </a:rPr>
              <a:t>2. RALPLAN-DR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521208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0">
                <a:solidFill>
                  <a:srgbClr val="303030"/>
                </a:solidFill>
                <a:latin typeface="Pretendard"/>
              </a:rPr>
              <a:t>Planner → Architect → Critic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521208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Pretendard"/>
              </a:rPr>
              <a:t>→ 합의 기반 계획 수립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63440"/>
            <a:ext cx="5486400" cy="1143000"/>
          </a:xfrm>
          <a:prstGeom prst="round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521208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1">
                <a:solidFill>
                  <a:srgbClr val="F06292"/>
                </a:solidFill>
                <a:latin typeface="Pretendard"/>
              </a:rPr>
              <a:t>3. Ralph PRD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521208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0">
                <a:solidFill>
                  <a:srgbClr val="303030"/>
                </a:solidFill>
                <a:latin typeface="Pretendard"/>
              </a:rPr>
              <a:t>12개 스토리 순차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40680"/>
            <a:ext cx="521208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Pretendard"/>
              </a:rPr>
              <a:t>→ 자동 검증 + 자동 재시도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463040"/>
            <a:ext cx="54864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700" b="1">
                <a:solidFill>
                  <a:srgbClr val="6A4C93"/>
                </a:solidFill>
                <a:latin typeface="Pretendard"/>
              </a:rPr>
              <a:t>실제 산출물 (`.omc/`)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2024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FFB3C6"/>
            </a:solidFill>
          </a:ln>
        </p:spPr>
        <p:txBody>
          <a:bodyPr wrap="square" tIns="182880" bIns="182880" lIns="182880" rIns="182880">
            <a:spAutoFit/>
          </a:bodyPr>
          <a:lstStyle/>
          <a:p>
            <a:r>
              <a:rPr sz="1100">
                <a:solidFill>
                  <a:srgbClr val="303030"/>
                </a:solidFill>
                <a:latin typeface="Menlo"/>
              </a:rPr>
              <a:t>.omc/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├─ specs/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│    └─ deep-interview-walk3d.md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│       (6 rounds · ambiguity 18%)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├─ plans/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│    ├─ walk3d-village-game.md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│    │   (RALPLAN-DR consensus)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│    └─ open-questions.md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├─ prd.json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│    (12 stories · all passes:true)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├─ progress.txt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│    (ralph iteration log)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└─ state/, sessions/</a:t>
            </a:r>
          </a:p>
          <a:p>
            <a:r>
              <a:rPr sz="1100">
                <a:solidFill>
                  <a:srgbClr val="303030"/>
                </a:solidFill>
                <a:latin typeface="Menlo"/>
              </a:rPr>
              <a:t>     (OMC runtime state)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14 / 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멀티에이전트 협업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단일 LLM이 아닌 역할별 전문 에이전트 조합 사용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846320"/>
                <a:gridCol w="3200400"/>
                <a:gridCol w="1371600"/>
              </a:tblGrid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6A4C93"/>
                          </a:solidFill>
                          <a:latin typeface="Pretendard"/>
                        </a:rPr>
                        <a:t>에이전트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6A4C93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6A4C93"/>
                          </a:solidFill>
                          <a:latin typeface="Pretendard"/>
                        </a:rPr>
                        <a:t>사용 단계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6A4C93"/>
                          </a:solidFill>
                          <a:latin typeface="Pretendard"/>
                        </a:rPr>
                        <a:t>모델 티어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planner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요구사항 → 계획 수립 · 12개 스토리 분해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Deep Interview · RALPLAN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opus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architect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아키텍처/경계 검토 · steelman 반대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RALPLAN consensus loop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opus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critic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원칙/옵션/리스크/검증 일관성 검증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RALPLAN consensus loop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opus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executor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스토리별 실제 구현 (코드 작성)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Ralph 반복 루프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sonnet / opus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verifier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기수용 기준(AC) 충족 여부 검증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Ralph post-impl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sonnet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code-reviewer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스타일·SOLID·회귀 리스크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Ralph approval pass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opus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ai-slop-cleaner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구현 후 반복/데드코드 정리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Ralph mandatory deslop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03030"/>
                          </a:solidFill>
                          <a:latin typeface="Pretendard"/>
                        </a:rPr>
                        <a:t>skill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  <a:latin typeface="Pretendard"/>
              </a:rPr>
              <a:t>작성/리뷰 분리 — 같은 컨텍스트에서 자기 승인 금지. writer-pass와 reviewer-pass를 다른 에이전트로 분리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15 /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프로젝트 메모리 · 룰 / 스킬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작업 중 축적된 규칙 · 이후 세션에 자동 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>
                <a:solidFill>
                  <a:srgbClr val="6A4C93"/>
                </a:solidFill>
                <a:latin typeface="Pretendard"/>
              </a:rPr>
              <a:t>Project Memory (.omc/project-memory.json)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486400" cy="2286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Hot paths — main.ts (47×), Character.ts (28×), SoundSystem.ts (25×)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JS/TS · vitest · npm · build=`npm run build`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세션 간 지속 — 코드 컨벤션/핫패스 자동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54864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>
                <a:solidFill>
                  <a:srgbClr val="6A4C93"/>
                </a:solidFill>
                <a:latin typeface="Pretendard"/>
              </a:rPr>
              <a:t>Feedback 메모리 (user preferences)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5486400" cy="1828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작업 끝나면 한글로 설명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커밋은 논리 단위별로 쪼개서 진행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스크린샷/비디오 검증 후 완료 선언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>
                <a:solidFill>
                  <a:srgbClr val="6A4C93"/>
                </a:solidFill>
                <a:latin typeface="Pretendard"/>
              </a:rPr>
              <a:t>사용한 OMC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486400" cy="4572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plan --consensus --di — 합의 기반 계획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707070"/>
                </a:solidFill>
                <a:latin typeface="Pretendard"/>
              </a:rPr>
              <a:t>◦ Z-fighting 수정 · 비주얼 개선 계획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ralph — PRD 12 스토리 영구 루프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707070"/>
                </a:solidFill>
                <a:latin typeface="Pretendard"/>
              </a:rPr>
              <a:t>◦ US-001 ~ US-012 전부 passes:true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deep-interview — 요구사항 모호도 게이팅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707070"/>
                </a:solidFill>
                <a:latin typeface="Pretendard"/>
              </a:rPr>
              <a:t>◦ 18% PASSED (threshold 20%)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ai-slop-cleaner — 구현 후 정리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visual-verdict — 스크린샷 QA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auto memory — 사용자 선호/핫패스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16 /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테스트 ·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65 tests · 9 files · 100%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6492240"/>
              </a:tblGrid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테스트 파일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케이스 수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6A4C93"/>
                          </a:solidFill>
                          <a:latin typeface="Pretendard"/>
                        </a:rPr>
                        <a:t>커버 영역</a:t>
                      </a:r>
                    </a:p>
                  </a:txBody>
                  <a:tcPr marL="73152" marR="73152" marT="36576" marB="36576">
                    <a:solidFill>
                      <a:srgbClr val="FFE0EC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SaveSystem.test.ts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세이브 로드 · 버전 마이그레이션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RegionManager.test.ts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15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지역 언락 조건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ProgressSystem.test.ts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레벨 · 임계값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ItemSystem.test.ts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아이템 수집 판정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ChunkGenerator.test.ts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결정적 생성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noise.test.ts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시드 노이즈 안정성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pool.test.ts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오브젝트 풀링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chunkWorker.test.ts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워커 메시지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Controller.test.ts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입력 매핑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합계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65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03030"/>
                          </a:solidFill>
                          <a:latin typeface="Pretendard"/>
                        </a:rPr>
                        <a:t>9 files all pass</a:t>
                      </a:r>
                    </a:p>
                  </a:txBody>
                  <a:tcPr marL="73152" marR="73152" marT="36576" marB="36576">
                    <a:solidFill>
                      <a:srgbClr val="FEFA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Pretendard"/>
              </a:rPr>
              <a:t>npm run build — TypeScript OK · Vite prod build 672KB → 177KB (gzip)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17 /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800" b="1">
                <a:solidFill>
                  <a:srgbClr val="F06292"/>
                </a:solidFill>
                <a:latin typeface="Pretendard"/>
              </a:rPr>
              <a:t>로드맵 ·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Pretendard"/>
              </a:rPr>
              <a:t>v3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600" b="1">
                <a:solidFill>
                  <a:srgbClr val="F06292"/>
                </a:solidFill>
                <a:latin typeface="Pretendard"/>
              </a:rPr>
              <a:t>플레이 경험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657600" cy="4114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일기/퀘스트 시스템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707070"/>
                </a:solidFill>
                <a:latin typeface="Pretendard"/>
              </a:rPr>
              <a:t>◦ 마을 NPC 고양이와 대화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날씨 · 시간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707070"/>
                </a:solidFill>
                <a:latin typeface="Pretendard"/>
              </a:rPr>
              <a:t>◦ 밤/낮 셰이더 · 비/눈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의상/액세서리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707070"/>
                </a:solidFill>
                <a:latin typeface="Pretendard"/>
              </a:rPr>
              <a:t>◦ 세이브 연계 커스터마이즈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6576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600" b="1">
                <a:solidFill>
                  <a:srgbClr val="F06292"/>
                </a:solidFill>
                <a:latin typeface="Pretendard"/>
              </a:rPr>
              <a:t>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657600" cy="4114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코드 스플리팅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707070"/>
                </a:solidFill>
                <a:latin typeface="Pretendard"/>
              </a:rPr>
              <a:t>◦ dynamic import 청크화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압축 텍스처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707070"/>
                </a:solidFill>
                <a:latin typeface="Pretendard"/>
              </a:rPr>
              <a:t>◦ KTX2 / Basis 적용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모바일 컨트롤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707070"/>
                </a:solidFill>
                <a:latin typeface="Pretendard"/>
              </a:rPr>
              <a:t>◦ 가상 조이스틱 · 터치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40"/>
            <a:ext cx="3657600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600" b="1">
                <a:solidFill>
                  <a:srgbClr val="F06292"/>
                </a:solidFill>
                <a:latin typeface="Pretendard"/>
              </a:rPr>
              <a:t>콘텐츠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657600" cy="4114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지역 5–8개 확장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707070"/>
                </a:solidFill>
                <a:latin typeface="Pretendard"/>
              </a:rPr>
              <a:t>◦ 랜드마크 · 히든 장소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지역별 팔레트/건물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707070"/>
                </a:solidFill>
                <a:latin typeface="Pretendard"/>
              </a:rPr>
              <a:t>◦ 지역 아이덴티티 강화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03030"/>
                </a:solidFill>
                <a:latin typeface="Pretendard"/>
              </a:rPr>
              <a:t>• 계절 BGM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707070"/>
                </a:solidFill>
                <a:latin typeface="Pretendard"/>
              </a:rPr>
              <a:t>◦ 지역별 오프셋 루프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Pretendard"/>
              </a:rPr>
              <a:t>18 /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Pretendard"/>
              </a:rPr>
              <a:t>walk3d v2 · 업데이트 리포트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6000" b="1">
                <a:solidFill>
                  <a:srgbClr val="F06292"/>
                </a:solidFill>
                <a:latin typeface="Pretendard"/>
              </a:rPr>
              <a:t>감사합니다 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000" b="0">
                <a:solidFill>
                  <a:srgbClr val="6A4C93"/>
                </a:solidFill>
                <a:latin typeface="Pretendard"/>
              </a:rPr>
              <a:t>가만히 멈춰서 고양이를 지켜보기만 해도 행복해요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1600" b="0">
                <a:solidFill>
                  <a:srgbClr val="303030"/>
                </a:solidFill>
                <a:latin typeface="Pretendard"/>
              </a:rPr>
              <a:t>GitHub · github.com/3uxeca/walk-nyang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1400" b="0">
                <a:solidFill>
                  <a:srgbClr val="707070"/>
                </a:solidFill>
                <a:latin typeface="Pretendard"/>
              </a:rPr>
              <a:t>Tech · TypeScript · Three.js · Vite · Web 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1400" b="0">
                <a:solidFill>
                  <a:srgbClr val="707070"/>
                </a:solidFill>
                <a:latin typeface="Pretendard"/>
              </a:rPr>
              <a:t>Assets · Kenney CC0 · Freesound CC0 · Quaternius CC0</a:t>
            </a:r>
          </a:p>
        </p:txBody>
      </p:sp>
      <p:pic>
        <p:nvPicPr>
          <p:cNvPr id="9" name="Picture 8" descr="screen-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303520"/>
            <a:ext cx="144145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